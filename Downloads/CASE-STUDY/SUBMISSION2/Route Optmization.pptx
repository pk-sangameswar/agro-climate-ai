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7" r:id="rId1"/>
    <p:sldMasterId id="2147483688" r:id="rId2"/>
    <p:sldMasterId id="2147483689" r:id="rId3"/>
    <p:sldMasterId id="2147483690" r:id="rId4"/>
    <p:sldMasterId id="2147483691" r:id="rId5"/>
  </p:sldMasterIdLst>
  <p:notesMasterIdLst>
    <p:notesMasterId r:id="rId25"/>
  </p:notesMasterIdLst>
  <p:sldIdLst>
    <p:sldId id="256" r:id="rId6"/>
    <p:sldId id="257" r:id="rId7"/>
    <p:sldId id="258" r:id="rId8"/>
    <p:sldId id="269" r:id="rId9"/>
    <p:sldId id="259" r:id="rId10"/>
    <p:sldId id="278" r:id="rId11"/>
    <p:sldId id="260" r:id="rId12"/>
    <p:sldId id="261" r:id="rId13"/>
    <p:sldId id="262" r:id="rId14"/>
    <p:sldId id="271" r:id="rId15"/>
    <p:sldId id="263" r:id="rId16"/>
    <p:sldId id="272" r:id="rId17"/>
    <p:sldId id="273" r:id="rId18"/>
    <p:sldId id="264" r:id="rId19"/>
    <p:sldId id="275" r:id="rId20"/>
    <p:sldId id="265" r:id="rId21"/>
    <p:sldId id="266" r:id="rId22"/>
    <p:sldId id="277" r:id="rId23"/>
    <p:sldId id="26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5" name="Google Shape;104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1" name="Google Shape;105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7" name="Google Shape;10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3" name="Google Shape;106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1" name="Google Shape;10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7" name="Google Shape;107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3" name="Google Shape;108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5" name="Google Shape;10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3" name="Google Shape;893;p24"/>
          <p:cNvSpPr>
            <a:spLocks noGrp="1"/>
          </p:cNvSpPr>
          <p:nvPr>
            <p:ph type="pic" idx="2"/>
          </p:nvPr>
        </p:nvSpPr>
        <p:spPr>
          <a:xfrm>
            <a:off x="5183188" y="987427"/>
            <a:ext cx="6172200" cy="4873500"/>
          </a:xfrm>
          <a:prstGeom prst="rect">
            <a:avLst/>
          </a:prstGeom>
          <a:noFill/>
          <a:ln>
            <a:noFill/>
          </a:ln>
        </p:spPr>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8">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7" r:id="rId2"/>
    <p:sldLayoutId id="2147483668" r:id="rId3"/>
    <p:sldLayoutId id="2147483669" r:id="rId4"/>
    <p:sldLayoutId id="2147483670" r:id="rId5"/>
    <p:sldLayoutId id="2147483671"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3">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9544942" TargetMode="Externa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ctrTitle"/>
          </p:nvPr>
        </p:nvSpPr>
        <p:spPr>
          <a:xfrm>
            <a:off x="108989" y="684059"/>
            <a:ext cx="11973900" cy="860100"/>
          </a:xfrm>
          <a:prstGeom prst="rect">
            <a:avLst/>
          </a:prstGeom>
          <a:noFill/>
          <a:ln>
            <a:noFill/>
          </a:ln>
        </p:spPr>
        <p:txBody>
          <a:bodyPr spcFirstLastPara="1" wrap="square" lIns="91425" tIns="45700" rIns="91425" bIns="45700" anchor="b" anchorCtr="0">
            <a:noAutofit/>
          </a:bodyPr>
          <a:lstStyle/>
          <a:p>
            <a:pPr lvl="0">
              <a:lnSpc>
                <a:spcPct val="150000"/>
              </a:lnSpc>
              <a:buClr>
                <a:srgbClr val="086072"/>
              </a:buClr>
              <a:buSzPct val="100000"/>
            </a:pPr>
            <a:r>
              <a:rPr lang="en-US" sz="4000" dirty="0"/>
              <a:t>Route Optimization &amp; Demand Forecasting</a:t>
            </a:r>
          </a:p>
        </p:txBody>
      </p:sp>
      <p:sp>
        <p:nvSpPr>
          <p:cNvPr id="1029" name="Google Shape;1029;p45"/>
          <p:cNvSpPr txBox="1"/>
          <p:nvPr/>
        </p:nvSpPr>
        <p:spPr>
          <a:xfrm>
            <a:off x="485681" y="3936462"/>
            <a:ext cx="11220600" cy="15080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dirty="0">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Case study Review 2</a:t>
            </a:r>
            <a:endParaRPr sz="2400" b="1" i="0" u="none" strike="noStrike" cap="none" dirty="0">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000" b="1" i="0" u="none" strike="noStrike" cap="none" dirty="0">
                <a:solidFill>
                  <a:srgbClr val="B6114D"/>
                </a:solidFill>
                <a:latin typeface="Times New Roman"/>
                <a:ea typeface="Times New Roman"/>
                <a:cs typeface="Times New Roman"/>
                <a:sym typeface="Times New Roman"/>
              </a:rPr>
              <a:t>Professor – T Senthil Kumar ( CSE)</a:t>
            </a:r>
            <a:endParaRPr dirty="0"/>
          </a:p>
        </p:txBody>
      </p:sp>
      <p:graphicFrame>
        <p:nvGraphicFramePr>
          <p:cNvPr id="2" name="Table 1">
            <a:extLst>
              <a:ext uri="{FF2B5EF4-FFF2-40B4-BE49-F238E27FC236}">
                <a16:creationId xmlns:a16="http://schemas.microsoft.com/office/drawing/2014/main" id="{ACD8C8A8-24FC-3A64-36C7-A08D90972292}"/>
              </a:ext>
            </a:extLst>
          </p:cNvPr>
          <p:cNvGraphicFramePr>
            <a:graphicFrameLocks noGrp="1"/>
          </p:cNvGraphicFramePr>
          <p:nvPr>
            <p:extLst>
              <p:ext uri="{D42A27DB-BD31-4B8C-83A1-F6EECF244321}">
                <p14:modId xmlns:p14="http://schemas.microsoft.com/office/powerpoint/2010/main" val="4196599983"/>
              </p:ext>
            </p:extLst>
          </p:nvPr>
        </p:nvGraphicFramePr>
        <p:xfrm>
          <a:off x="2031939" y="1748685"/>
          <a:ext cx="8127999" cy="741680"/>
        </p:xfrm>
        <a:graphic>
          <a:graphicData uri="http://schemas.openxmlformats.org/drawingml/2006/table">
            <a:tbl>
              <a:tblPr firstRow="1" bandRow="1">
                <a:tableStyleId>{B229F12B-DD2F-434A-8BDD-88915C9BCD54}</a:tableStyleId>
              </a:tblPr>
              <a:tblGrid>
                <a:gridCol w="2709333">
                  <a:extLst>
                    <a:ext uri="{9D8B030D-6E8A-4147-A177-3AD203B41FA5}">
                      <a16:colId xmlns:a16="http://schemas.microsoft.com/office/drawing/2014/main" val="523740406"/>
                    </a:ext>
                  </a:extLst>
                </a:gridCol>
                <a:gridCol w="2709333">
                  <a:extLst>
                    <a:ext uri="{9D8B030D-6E8A-4147-A177-3AD203B41FA5}">
                      <a16:colId xmlns:a16="http://schemas.microsoft.com/office/drawing/2014/main" val="2656908799"/>
                    </a:ext>
                  </a:extLst>
                </a:gridCol>
                <a:gridCol w="2709333">
                  <a:extLst>
                    <a:ext uri="{9D8B030D-6E8A-4147-A177-3AD203B41FA5}">
                      <a16:colId xmlns:a16="http://schemas.microsoft.com/office/drawing/2014/main" val="2179032573"/>
                    </a:ext>
                  </a:extLst>
                </a:gridCol>
              </a:tblGrid>
              <a:tr h="370840">
                <a:tc>
                  <a:txBody>
                    <a:bodyPr/>
                    <a:lstStyle/>
                    <a:p>
                      <a:r>
                        <a:rPr lang="en-US" dirty="0"/>
                        <a:t>CB.SC.P2AIE25016</a:t>
                      </a:r>
                    </a:p>
                  </a:txBody>
                  <a:tcPr/>
                </a:tc>
                <a:tc>
                  <a:txBody>
                    <a:bodyPr/>
                    <a:lstStyle/>
                    <a:p>
                      <a:r>
                        <a:rPr lang="en-US" dirty="0"/>
                        <a:t>CB.SC.P2AIE24028</a:t>
                      </a:r>
                    </a:p>
                  </a:txBody>
                  <a:tcPr/>
                </a:tc>
                <a:tc>
                  <a:txBody>
                    <a:bodyPr/>
                    <a:lstStyle/>
                    <a:p>
                      <a:r>
                        <a:rPr lang="en-US" dirty="0"/>
                        <a:t>CB.SC.P2AIE007</a:t>
                      </a:r>
                    </a:p>
                  </a:txBody>
                  <a:tcPr/>
                </a:tc>
                <a:extLst>
                  <a:ext uri="{0D108BD9-81ED-4DB2-BD59-A6C34878D82A}">
                    <a16:rowId xmlns:a16="http://schemas.microsoft.com/office/drawing/2014/main" val="912188729"/>
                  </a:ext>
                </a:extLst>
              </a:tr>
              <a:tr h="370840">
                <a:tc>
                  <a:txBody>
                    <a:bodyPr/>
                    <a:lstStyle/>
                    <a:p>
                      <a:r>
                        <a:rPr lang="en-US" dirty="0"/>
                        <a:t>P K SANGAMESWAR</a:t>
                      </a:r>
                    </a:p>
                  </a:txBody>
                  <a:tcPr/>
                </a:tc>
                <a:tc>
                  <a:txBody>
                    <a:bodyPr/>
                    <a:lstStyle/>
                    <a:p>
                      <a:r>
                        <a:rPr lang="en-US" dirty="0"/>
                        <a:t>Samyuktha Senthilkumar</a:t>
                      </a:r>
                    </a:p>
                  </a:txBody>
                  <a:tcPr/>
                </a:tc>
                <a:tc>
                  <a:txBody>
                    <a:bodyPr/>
                    <a:lstStyle/>
                    <a:p>
                      <a:r>
                        <a:rPr lang="en-US" dirty="0" err="1"/>
                        <a:t>Janarthana</a:t>
                      </a:r>
                      <a:r>
                        <a:rPr lang="en-US" dirty="0"/>
                        <a:t> Prabu S</a:t>
                      </a:r>
                    </a:p>
                  </a:txBody>
                  <a:tcPr/>
                </a:tc>
                <a:extLst>
                  <a:ext uri="{0D108BD9-81ED-4DB2-BD59-A6C34878D82A}">
                    <a16:rowId xmlns:a16="http://schemas.microsoft.com/office/drawing/2014/main" val="202835585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46"/>
          <p:cNvSpPr txBox="1">
            <a:spLocks noGrp="1"/>
          </p:cNvSpPr>
          <p:nvPr>
            <p:ph type="title"/>
          </p:nvPr>
        </p:nvSpPr>
        <p:spPr>
          <a:xfrm>
            <a:off x="595661" y="18256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3600" b="1" i="1">
                <a:solidFill>
                  <a:srgbClr val="C00000"/>
                </a:solidFill>
                <a:latin typeface="Times New Roman"/>
                <a:ea typeface="Times New Roman"/>
                <a:cs typeface="Times New Roman"/>
                <a:sym typeface="Times New Roman"/>
              </a:rPr>
              <a:t>Agenda</a:t>
            </a:r>
            <a:endParaRPr/>
          </a:p>
        </p:txBody>
      </p:sp>
      <p:sp>
        <p:nvSpPr>
          <p:cNvPr id="1036" name="Google Shape;1036;p46"/>
          <p:cNvSpPr txBox="1">
            <a:spLocks noGrp="1"/>
          </p:cNvSpPr>
          <p:nvPr>
            <p:ph type="body" idx="1"/>
          </p:nvPr>
        </p:nvSpPr>
        <p:spPr>
          <a:xfrm>
            <a:off x="544285" y="799838"/>
            <a:ext cx="10881300" cy="5296200"/>
          </a:xfrm>
          <a:prstGeom prst="rect">
            <a:avLst/>
          </a:prstGeom>
          <a:noFill/>
          <a:ln>
            <a:noFill/>
          </a:ln>
        </p:spPr>
        <p:txBody>
          <a:bodyPr spcFirstLastPara="1" wrap="square" lIns="91425" tIns="45700" rIns="91425" bIns="45700" anchor="t" anchorCtr="0">
            <a:noAutofit/>
          </a:bodyPr>
          <a:lstStyle/>
          <a:p>
            <a:pPr marL="228593" lvl="0" indent="-228593" algn="just" rtl="0">
              <a:lnSpc>
                <a:spcPct val="150000"/>
              </a:lnSpc>
              <a:spcBef>
                <a:spcPts val="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Introduction</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Architecture &amp; Literature survey</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Features of LSTM</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CV perspective of LSTM</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Diagram</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Why LSTM?</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Hyperparameters</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Hyperparameter Tuning</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Metrics</a:t>
            </a:r>
            <a:endParaRPr dirty="0"/>
          </a:p>
          <a:p>
            <a:pPr marL="228593" lvl="0" indent="-228593" algn="just" rtl="0">
              <a:lnSpc>
                <a:spcPct val="150000"/>
              </a:lnSpc>
              <a:spcBef>
                <a:spcPts val="1000"/>
              </a:spcBef>
              <a:spcAft>
                <a:spcPts val="0"/>
              </a:spcAft>
              <a:buClr>
                <a:srgbClr val="38507C"/>
              </a:buClr>
              <a:buSzPts val="1800"/>
              <a:buFont typeface="Noto Sans Symbols"/>
              <a:buChar char="✔"/>
            </a:pPr>
            <a:r>
              <a:rPr lang="en-IN" sz="1800" b="1" dirty="0">
                <a:solidFill>
                  <a:srgbClr val="38507C"/>
                </a:solidFill>
                <a:latin typeface="Times New Roman"/>
                <a:ea typeface="Times New Roman"/>
                <a:cs typeface="Times New Roman"/>
                <a:sym typeface="Times New Roman"/>
              </a:rPr>
              <a:t>Formulae for performance metrics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47"/>
          <p:cNvSpPr txBox="1">
            <a:spLocks noGrp="1"/>
          </p:cNvSpPr>
          <p:nvPr>
            <p:ph type="title"/>
          </p:nvPr>
        </p:nvSpPr>
        <p:spPr>
          <a:xfrm>
            <a:off x="838200" y="173601"/>
            <a:ext cx="10515600" cy="669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Introduction</a:t>
            </a:r>
            <a:endParaRPr dirty="0"/>
          </a:p>
        </p:txBody>
      </p:sp>
      <p:sp>
        <p:nvSpPr>
          <p:cNvPr id="1042" name="Google Shape;1042;p47"/>
          <p:cNvSpPr txBox="1">
            <a:spLocks noGrp="1"/>
          </p:cNvSpPr>
          <p:nvPr>
            <p:ph type="body" idx="1"/>
          </p:nvPr>
        </p:nvSpPr>
        <p:spPr>
          <a:xfrm>
            <a:off x="838200" y="1005903"/>
            <a:ext cx="10515600" cy="4871100"/>
          </a:xfrm>
          <a:prstGeom prst="rect">
            <a:avLst/>
          </a:prstGeom>
          <a:noFill/>
          <a:ln>
            <a:noFill/>
          </a:ln>
        </p:spPr>
        <p:txBody>
          <a:bodyPr spcFirstLastPara="1" wrap="square" lIns="91425" tIns="45700" rIns="91425" bIns="45700" anchor="t" anchorCtr="0">
            <a:normAutofit/>
          </a:bodyPr>
          <a:lstStyle/>
          <a:p>
            <a:pPr marL="50800" indent="0">
              <a:buNone/>
            </a:pPr>
            <a:r>
              <a:rPr lang="en-US" sz="1800" b="1" dirty="0"/>
              <a:t>Route Optimization – In My Understanding</a:t>
            </a:r>
          </a:p>
          <a:p>
            <a:pPr marL="50800" indent="0">
              <a:buNone/>
            </a:pPr>
            <a:r>
              <a:rPr lang="en-US" sz="1800" dirty="0"/>
              <a:t>In my understanding, </a:t>
            </a:r>
            <a:r>
              <a:rPr lang="en-US" sz="1800" b="1" dirty="0"/>
              <a:t>route optimization</a:t>
            </a:r>
            <a:r>
              <a:rPr lang="en-US" sz="1800" dirty="0"/>
              <a:t> is about finding the best possible path for vehicles to travel so that deliveries can be completed faster, at lower cost, and with less fuel usage. It focuses on choosing routes that avoid heavy traffic, long delays, and unnecessary distance. The main goal is to reduce travel time, operational cost, and carbon emissions while ensuring timely delivery.</a:t>
            </a:r>
          </a:p>
          <a:p>
            <a:pPr marL="50800" indent="0">
              <a:buNone/>
            </a:pPr>
            <a:r>
              <a:rPr lang="en-US" sz="1800" b="1" dirty="0"/>
              <a:t>Demand Forecasting – In My Understanding</a:t>
            </a:r>
          </a:p>
          <a:p>
            <a:pPr marL="50800" indent="0">
              <a:buNone/>
            </a:pPr>
            <a:r>
              <a:rPr lang="en-US" sz="1800" dirty="0"/>
              <a:t>In my understanding, </a:t>
            </a:r>
            <a:r>
              <a:rPr lang="en-US" sz="1800" b="1" dirty="0"/>
              <a:t>demand forecasting</a:t>
            </a:r>
            <a:r>
              <a:rPr lang="en-US" sz="1800" dirty="0"/>
              <a:t> is about predicting when and where transportation demand will occur in the future. By analyzing historical data such as trip timings, locations, and frequency, we can estimate future demand patterns. This helps in planning how many vehicles are needed and where they should be positioned in advance.</a:t>
            </a:r>
          </a:p>
          <a:p>
            <a:pPr marL="50800" indent="0">
              <a:buNone/>
            </a:pPr>
            <a:r>
              <a:rPr lang="en-US" sz="1800" b="1" dirty="0"/>
              <a:t>What is Deep Learning for Route Optimization &amp; Demand Forecasting?</a:t>
            </a:r>
          </a:p>
          <a:p>
            <a:pPr marL="50800" indent="0">
              <a:buNone/>
            </a:pPr>
            <a:r>
              <a:rPr lang="en-US" sz="1800" dirty="0"/>
              <a:t>In my understanding, </a:t>
            </a:r>
            <a:r>
              <a:rPr lang="en-US" sz="1800" b="1" dirty="0"/>
              <a:t>deep learning for route optimization and demand forecasting</a:t>
            </a:r>
            <a:r>
              <a:rPr lang="en-US" sz="1800" dirty="0"/>
              <a:t> involves using advanced neural networks to learn patterns from large amounts of time-based transportation data. Instead of manually defining traffic rules or demand patterns, deep learning models automatically learn trends such as rush hours, congestion behavior, and seasonal variations. This helps the system make smarter predictions and better routing decisions.</a:t>
            </a:r>
          </a:p>
          <a:p>
            <a:pPr marL="0" lvl="0" indent="0" algn="l" rtl="0">
              <a:lnSpc>
                <a:spcPct val="90000"/>
              </a:lnSpc>
              <a:spcBef>
                <a:spcPts val="0"/>
              </a:spcBef>
              <a:spcAft>
                <a:spcPts val="0"/>
              </a:spcAft>
              <a:buClr>
                <a:schemeClr val="dk1"/>
              </a:buClr>
              <a:buSzPts val="1500"/>
              <a:buNone/>
            </a:pPr>
            <a:endParaRPr sz="1800" u="sng"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D8E3D0-C87C-38F5-4116-B02DB4F68F7B}"/>
              </a:ext>
            </a:extLst>
          </p:cNvPr>
          <p:cNvSpPr>
            <a:spLocks noGrp="1"/>
          </p:cNvSpPr>
          <p:nvPr>
            <p:ph type="body" idx="1"/>
          </p:nvPr>
        </p:nvSpPr>
        <p:spPr>
          <a:xfrm>
            <a:off x="642257" y="584654"/>
            <a:ext cx="10515600" cy="4836432"/>
          </a:xfrm>
        </p:spPr>
        <p:txBody>
          <a:bodyPr>
            <a:noAutofit/>
          </a:bodyPr>
          <a:lstStyle/>
          <a:p>
            <a:pPr marL="50800" indent="0">
              <a:buNone/>
            </a:pPr>
            <a:r>
              <a:rPr lang="en-US" sz="1800" b="1" dirty="0"/>
              <a:t>What is LSTM and What Does It Do Here?</a:t>
            </a:r>
          </a:p>
          <a:p>
            <a:pPr marL="50800" indent="0">
              <a:buNone/>
            </a:pPr>
            <a:r>
              <a:rPr lang="en-US" sz="1800" dirty="0"/>
              <a:t>In my understanding, </a:t>
            </a:r>
            <a:r>
              <a:rPr lang="en-US" sz="1800" b="1" dirty="0"/>
              <a:t>Long Short-Term Memory (LSTM)</a:t>
            </a:r>
            <a:r>
              <a:rPr lang="en-US" sz="1800" dirty="0"/>
              <a:t> is a type of deep learning model that is especially good at handling time-dependent data. Since traffic conditions and demand change over time, LSTM can remember past patterns and use them to predict future travel times and demand levels. LSTM helps in forecasting delays, congestion, and demand more accurately than traditional models.</a:t>
            </a:r>
          </a:p>
          <a:p>
            <a:pPr marL="50800" indent="0">
              <a:buNone/>
            </a:pPr>
            <a:r>
              <a:rPr lang="en-US" sz="1800" b="1" dirty="0"/>
              <a:t>Why is Deep Learning Needed for This Problem?</a:t>
            </a:r>
          </a:p>
          <a:p>
            <a:r>
              <a:rPr lang="en-US" sz="1800" dirty="0"/>
              <a:t>Deep learning is needed for route optimization and demand forecasting because traditional methods struggle to handle complex and dynamic real-world traffic conditions. Traffic patterns are influenced by time, location, congestion, and external factors, making them difficult to model manually.</a:t>
            </a:r>
          </a:p>
          <a:p>
            <a:r>
              <a:rPr lang="en-US" sz="1800" dirty="0"/>
              <a:t>By using LSTM-based deep learning models:</a:t>
            </a:r>
          </a:p>
          <a:p>
            <a:r>
              <a:rPr lang="en-US" sz="1800" dirty="0"/>
              <a:t>Long-term traffic and demand patterns can be learned</a:t>
            </a:r>
          </a:p>
          <a:p>
            <a:r>
              <a:rPr lang="en-US" sz="1800" dirty="0"/>
              <a:t>Travel time predictions become more accurate</a:t>
            </a:r>
          </a:p>
          <a:p>
            <a:r>
              <a:rPr lang="en-US" sz="1800" dirty="0"/>
              <a:t>Route decisions become adaptive and data-driven</a:t>
            </a:r>
          </a:p>
          <a:p>
            <a:r>
              <a:rPr lang="en-US" sz="1800" dirty="0"/>
              <a:t>Fuel consumption and carbon emissions can be reduced</a:t>
            </a:r>
          </a:p>
          <a:p>
            <a:r>
              <a:rPr lang="en-US" sz="1800" dirty="0"/>
              <a:t>This makes deep learning a powerful solution for modern transportation and logistics systems.</a:t>
            </a:r>
          </a:p>
          <a:p>
            <a:endParaRPr lang="en-US" sz="1800" dirty="0"/>
          </a:p>
        </p:txBody>
      </p:sp>
    </p:spTree>
    <p:extLst>
      <p:ext uri="{BB962C8B-B14F-4D97-AF65-F5344CB8AC3E}">
        <p14:creationId xmlns:p14="http://schemas.microsoft.com/office/powerpoint/2010/main" val="179669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48"/>
          <p:cNvSpPr txBox="1">
            <a:spLocks noGrp="1"/>
          </p:cNvSpPr>
          <p:nvPr>
            <p:ph type="title"/>
          </p:nvPr>
        </p:nvSpPr>
        <p:spPr>
          <a:xfrm>
            <a:off x="419099" y="168676"/>
            <a:ext cx="7178400" cy="762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a:solidFill>
                  <a:srgbClr val="CC0066"/>
                </a:solidFill>
                <a:latin typeface="Times New Roman"/>
                <a:ea typeface="Times New Roman"/>
                <a:cs typeface="Times New Roman"/>
                <a:sym typeface="Times New Roman"/>
              </a:rPr>
              <a:t>Architecture &amp; Literature survey</a:t>
            </a:r>
            <a:endParaRPr/>
          </a:p>
        </p:txBody>
      </p:sp>
      <p:sp>
        <p:nvSpPr>
          <p:cNvPr id="1048" name="Google Shape;1048;p48"/>
          <p:cNvSpPr txBox="1">
            <a:spLocks noGrp="1"/>
          </p:cNvSpPr>
          <p:nvPr>
            <p:ph type="body" idx="1"/>
          </p:nvPr>
        </p:nvSpPr>
        <p:spPr>
          <a:xfrm>
            <a:off x="419099" y="960584"/>
            <a:ext cx="11353800" cy="4449000"/>
          </a:xfrm>
          <a:prstGeom prst="rect">
            <a:avLst/>
          </a:prstGeom>
          <a:noFill/>
          <a:ln>
            <a:noFill/>
          </a:ln>
        </p:spPr>
        <p:txBody>
          <a:bodyPr spcFirstLastPara="1" wrap="square" lIns="91425" tIns="45700" rIns="91425" bIns="45700" anchor="t" anchorCtr="0">
            <a:normAutofit/>
          </a:bodyPr>
          <a:lstStyle/>
          <a:p>
            <a:r>
              <a:rPr lang="en-US" sz="1800" b="1" dirty="0"/>
              <a:t>Proposed System Architecture (High-Level)</a:t>
            </a:r>
          </a:p>
          <a:p>
            <a:r>
              <a:rPr lang="en-US" sz="1800" b="1" dirty="0"/>
              <a:t>Data Sources → Demand Forecasting → Route Optimization → Execution &amp; Feedback</a:t>
            </a:r>
            <a:endParaRPr lang="en-US" sz="1800" dirty="0"/>
          </a:p>
          <a:p>
            <a:r>
              <a:rPr lang="en-US" sz="1800" b="1" dirty="0"/>
              <a:t>Data Sources:</a:t>
            </a:r>
            <a:r>
              <a:rPr lang="en-US" sz="1800" dirty="0"/>
              <a:t> Historical orders, real-time requests, traffic data</a:t>
            </a:r>
          </a:p>
          <a:p>
            <a:r>
              <a:rPr lang="en-US" sz="1800" b="1" dirty="0"/>
              <a:t>Demand Forecasting Module:</a:t>
            </a:r>
            <a:r>
              <a:rPr lang="en-US" sz="1800" dirty="0"/>
              <a:t> Time-series / ML models predict future demand</a:t>
            </a:r>
          </a:p>
          <a:p>
            <a:r>
              <a:rPr lang="en-US" sz="1800" b="1" dirty="0"/>
              <a:t>Route Optimization Module:</a:t>
            </a:r>
            <a:r>
              <a:rPr lang="en-US" sz="1800" dirty="0"/>
              <a:t> Optimization algorithms generate cost-efficient routes</a:t>
            </a:r>
          </a:p>
          <a:p>
            <a:r>
              <a:rPr lang="en-US" sz="1800" b="1" dirty="0"/>
              <a:t>Execution &amp; Feedback:</a:t>
            </a:r>
            <a:r>
              <a:rPr lang="en-US" sz="1800" dirty="0"/>
              <a:t> Delivery execution + real-time updates improve future predictions</a:t>
            </a:r>
          </a:p>
          <a:p>
            <a:pPr marL="228593" lvl="0" indent="-228593" algn="l" rtl="0">
              <a:lnSpc>
                <a:spcPct val="90000"/>
              </a:lnSpc>
              <a:spcBef>
                <a:spcPts val="0"/>
              </a:spcBef>
              <a:spcAft>
                <a:spcPts val="0"/>
              </a:spcAft>
              <a:buClr>
                <a:schemeClr val="dk1"/>
              </a:buClr>
              <a:buSzPts val="2000"/>
              <a:buChar char="•"/>
            </a:pPr>
            <a:endParaRPr sz="2000" b="0" i="0" u="none" strike="noStrike" cap="none" dirty="0">
              <a:solidFill>
                <a:schemeClr val="dk1"/>
              </a:solidFill>
              <a:latin typeface="Avenir"/>
              <a:ea typeface="Avenir"/>
              <a:cs typeface="Avenir"/>
              <a:sym typeface="Avenir"/>
            </a:endParaRPr>
          </a:p>
        </p:txBody>
      </p:sp>
      <p:graphicFrame>
        <p:nvGraphicFramePr>
          <p:cNvPr id="8" name="Table 7">
            <a:extLst>
              <a:ext uri="{FF2B5EF4-FFF2-40B4-BE49-F238E27FC236}">
                <a16:creationId xmlns:a16="http://schemas.microsoft.com/office/drawing/2014/main" id="{6A88C5AA-565A-B025-D593-4D10CFE26E88}"/>
              </a:ext>
            </a:extLst>
          </p:cNvPr>
          <p:cNvGraphicFramePr>
            <a:graphicFrameLocks noGrp="1"/>
          </p:cNvGraphicFramePr>
          <p:nvPr>
            <p:extLst>
              <p:ext uri="{D42A27DB-BD31-4B8C-83A1-F6EECF244321}">
                <p14:modId xmlns:p14="http://schemas.microsoft.com/office/powerpoint/2010/main" val="466317549"/>
              </p:ext>
            </p:extLst>
          </p:nvPr>
        </p:nvGraphicFramePr>
        <p:xfrm>
          <a:off x="602530" y="4190384"/>
          <a:ext cx="10515600" cy="1219200"/>
        </p:xfrm>
        <a:graphic>
          <a:graphicData uri="http://schemas.openxmlformats.org/drawingml/2006/table">
            <a:tbl>
              <a:tblPr/>
              <a:tblGrid>
                <a:gridCol w="5257800">
                  <a:extLst>
                    <a:ext uri="{9D8B030D-6E8A-4147-A177-3AD203B41FA5}">
                      <a16:colId xmlns:a16="http://schemas.microsoft.com/office/drawing/2014/main" val="279177974"/>
                    </a:ext>
                  </a:extLst>
                </a:gridCol>
                <a:gridCol w="5257800">
                  <a:extLst>
                    <a:ext uri="{9D8B030D-6E8A-4147-A177-3AD203B41FA5}">
                      <a16:colId xmlns:a16="http://schemas.microsoft.com/office/drawing/2014/main" val="1677014888"/>
                    </a:ext>
                  </a:extLst>
                </a:gridCol>
              </a:tblGrid>
              <a:tr h="0">
                <a:tc>
                  <a:txBody>
                    <a:bodyPr/>
                    <a:lstStyle/>
                    <a:p>
                      <a:pPr>
                        <a:buNone/>
                      </a:pPr>
                      <a:r>
                        <a:rPr lang="en-IN"/>
                        <a:t>Architecture Component</a:t>
                      </a:r>
                    </a:p>
                  </a:txBody>
                  <a:tcPr anchor="ctr">
                    <a:lnL>
                      <a:noFill/>
                    </a:lnL>
                    <a:lnR>
                      <a:noFill/>
                    </a:lnR>
                    <a:lnT>
                      <a:noFill/>
                    </a:lnT>
                    <a:lnB>
                      <a:noFill/>
                    </a:lnB>
                    <a:noFill/>
                  </a:tcPr>
                </a:tc>
                <a:tc>
                  <a:txBody>
                    <a:bodyPr/>
                    <a:lstStyle/>
                    <a:p>
                      <a:pPr>
                        <a:buNone/>
                      </a:pPr>
                      <a:r>
                        <a:rPr lang="en-IN"/>
                        <a:t>Key Insight from Literature</a:t>
                      </a:r>
                    </a:p>
                  </a:txBody>
                  <a:tcPr anchor="ctr">
                    <a:lnL>
                      <a:noFill/>
                    </a:lnL>
                    <a:lnR>
                      <a:noFill/>
                    </a:lnR>
                    <a:lnT>
                      <a:noFill/>
                    </a:lnT>
                    <a:lnB>
                      <a:noFill/>
                    </a:lnB>
                    <a:noFill/>
                  </a:tcPr>
                </a:tc>
                <a:extLst>
                  <a:ext uri="{0D108BD9-81ED-4DB2-BD59-A6C34878D82A}">
                    <a16:rowId xmlns:a16="http://schemas.microsoft.com/office/drawing/2014/main" val="4272923461"/>
                  </a:ext>
                </a:extLst>
              </a:tr>
              <a:tr h="0">
                <a:tc>
                  <a:txBody>
                    <a:bodyPr/>
                    <a:lstStyle/>
                    <a:p>
                      <a:pPr>
                        <a:buNone/>
                      </a:pPr>
                      <a:r>
                        <a:rPr lang="en-IN"/>
                        <a:t>Demand Forecasting</a:t>
                      </a:r>
                    </a:p>
                  </a:txBody>
                  <a:tcPr anchor="ctr">
                    <a:lnL>
                      <a:noFill/>
                    </a:lnL>
                    <a:lnR>
                      <a:noFill/>
                    </a:lnR>
                    <a:lnT>
                      <a:noFill/>
                    </a:lnT>
                    <a:lnB>
                      <a:noFill/>
                    </a:lnB>
                    <a:noFill/>
                  </a:tcPr>
                </a:tc>
                <a:tc>
                  <a:txBody>
                    <a:bodyPr/>
                    <a:lstStyle/>
                    <a:p>
                      <a:pPr>
                        <a:buNone/>
                      </a:pPr>
                      <a:r>
                        <a:rPr lang="en-US"/>
                        <a:t>ML-based forecasting improves supply-chain planning accuracy</a:t>
                      </a:r>
                    </a:p>
                  </a:txBody>
                  <a:tcPr anchor="ctr">
                    <a:lnL>
                      <a:noFill/>
                    </a:lnL>
                    <a:lnR>
                      <a:noFill/>
                    </a:lnR>
                    <a:lnT>
                      <a:noFill/>
                    </a:lnT>
                    <a:lnB>
                      <a:noFill/>
                    </a:lnB>
                    <a:noFill/>
                  </a:tcPr>
                </a:tc>
                <a:extLst>
                  <a:ext uri="{0D108BD9-81ED-4DB2-BD59-A6C34878D82A}">
                    <a16:rowId xmlns:a16="http://schemas.microsoft.com/office/drawing/2014/main" val="3103722674"/>
                  </a:ext>
                </a:extLst>
              </a:tr>
              <a:tr h="0">
                <a:tc>
                  <a:txBody>
                    <a:bodyPr/>
                    <a:lstStyle/>
                    <a:p>
                      <a:pPr>
                        <a:buNone/>
                      </a:pPr>
                      <a:r>
                        <a:rPr lang="en-IN"/>
                        <a:t>Route Optimization</a:t>
                      </a:r>
                    </a:p>
                  </a:txBody>
                  <a:tcPr anchor="ctr">
                    <a:lnL>
                      <a:noFill/>
                    </a:lnL>
                    <a:lnR>
                      <a:noFill/>
                    </a:lnR>
                    <a:lnT>
                      <a:noFill/>
                    </a:lnT>
                    <a:lnB>
                      <a:noFill/>
                    </a:lnB>
                    <a:noFill/>
                  </a:tcPr>
                </a:tc>
                <a:tc>
                  <a:txBody>
                    <a:bodyPr/>
                    <a:lstStyle/>
                    <a:p>
                      <a:pPr>
                        <a:buNone/>
                      </a:pPr>
                      <a:r>
                        <a:rPr lang="en-US"/>
                        <a:t>Demand-aware routing reduces cost, delay, and fuel usage</a:t>
                      </a:r>
                    </a:p>
                  </a:txBody>
                  <a:tcPr anchor="ctr">
                    <a:lnL>
                      <a:noFill/>
                    </a:lnL>
                    <a:lnR>
                      <a:noFill/>
                    </a:lnR>
                    <a:lnT>
                      <a:noFill/>
                    </a:lnT>
                    <a:lnB>
                      <a:noFill/>
                    </a:lnB>
                    <a:noFill/>
                  </a:tcPr>
                </a:tc>
                <a:extLst>
                  <a:ext uri="{0D108BD9-81ED-4DB2-BD59-A6C34878D82A}">
                    <a16:rowId xmlns:a16="http://schemas.microsoft.com/office/drawing/2014/main" val="2204418776"/>
                  </a:ext>
                </a:extLst>
              </a:tr>
              <a:tr h="0">
                <a:tc>
                  <a:txBody>
                    <a:bodyPr/>
                    <a:lstStyle/>
                    <a:p>
                      <a:pPr>
                        <a:buNone/>
                      </a:pPr>
                      <a:r>
                        <a:rPr lang="en-IN"/>
                        <a:t>Integrated Approach</a:t>
                      </a:r>
                    </a:p>
                  </a:txBody>
                  <a:tcPr anchor="ctr">
                    <a:lnL>
                      <a:noFill/>
                    </a:lnL>
                    <a:lnR>
                      <a:noFill/>
                    </a:lnR>
                    <a:lnT>
                      <a:noFill/>
                    </a:lnT>
                    <a:lnB>
                      <a:noFill/>
                    </a:lnB>
                    <a:noFill/>
                  </a:tcPr>
                </a:tc>
                <a:tc>
                  <a:txBody>
                    <a:bodyPr/>
                    <a:lstStyle/>
                    <a:p>
                      <a:pPr>
                        <a:buNone/>
                      </a:pPr>
                      <a:r>
                        <a:rPr lang="en-US" dirty="0"/>
                        <a:t>Joint forecasting + routing outperforms isolated solutions</a:t>
                      </a:r>
                    </a:p>
                  </a:txBody>
                  <a:tcPr anchor="ctr">
                    <a:lnL>
                      <a:noFill/>
                    </a:lnL>
                    <a:lnR>
                      <a:noFill/>
                    </a:lnR>
                    <a:lnT>
                      <a:noFill/>
                    </a:lnT>
                    <a:lnB>
                      <a:noFill/>
                    </a:lnB>
                    <a:noFill/>
                  </a:tcPr>
                </a:tc>
                <a:extLst>
                  <a:ext uri="{0D108BD9-81ED-4DB2-BD59-A6C34878D82A}">
                    <a16:rowId xmlns:a16="http://schemas.microsoft.com/office/drawing/2014/main" val="4193957710"/>
                  </a:ext>
                </a:extLst>
              </a:tr>
            </a:tbl>
          </a:graphicData>
        </a:graphic>
      </p:graphicFrame>
      <p:sp>
        <p:nvSpPr>
          <p:cNvPr id="9" name="Rectangle 6">
            <a:extLst>
              <a:ext uri="{FF2B5EF4-FFF2-40B4-BE49-F238E27FC236}">
                <a16:creationId xmlns:a16="http://schemas.microsoft.com/office/drawing/2014/main" id="{B2AB1D9A-30AF-1F45-0CD2-46BF1590F585}"/>
              </a:ext>
            </a:extLst>
          </p:cNvPr>
          <p:cNvSpPr>
            <a:spLocks noChangeArrowheads="1"/>
          </p:cNvSpPr>
          <p:nvPr/>
        </p:nvSpPr>
        <p:spPr bwMode="auto">
          <a:xfrm>
            <a:off x="602530" y="3654008"/>
            <a:ext cx="573746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Literature Survey (Condensed &amp; Mapped to Architecture)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2793B0-9D7E-E9AB-1BFD-B24C739866F8}"/>
              </a:ext>
            </a:extLst>
          </p:cNvPr>
          <p:cNvSpPr txBox="1"/>
          <p:nvPr/>
        </p:nvSpPr>
        <p:spPr>
          <a:xfrm>
            <a:off x="527901" y="443060"/>
            <a:ext cx="8613742" cy="4308872"/>
          </a:xfrm>
          <a:prstGeom prst="rect">
            <a:avLst/>
          </a:prstGeom>
          <a:noFill/>
        </p:spPr>
        <p:txBody>
          <a:bodyPr wrap="square">
            <a:spAutoFit/>
          </a:bodyPr>
          <a:lstStyle/>
          <a:p>
            <a:pPr>
              <a:buNone/>
            </a:pPr>
            <a:r>
              <a:rPr lang="en-IN" sz="2000" b="1" dirty="0"/>
              <a:t>Key References (IEEE &amp; Google Scholar )</a:t>
            </a:r>
          </a:p>
          <a:p>
            <a:pPr>
              <a:buNone/>
            </a:pPr>
            <a:endParaRPr lang="en-IN" sz="2000" dirty="0"/>
          </a:p>
          <a:p>
            <a:pPr>
              <a:buFont typeface="+mj-lt"/>
              <a:buAutoNum type="arabicPeriod"/>
            </a:pPr>
            <a:endParaRPr lang="en-IN" sz="1800" dirty="0"/>
          </a:p>
          <a:p>
            <a:pPr>
              <a:buFont typeface="+mj-lt"/>
              <a:buAutoNum type="arabicPeriod"/>
            </a:pPr>
            <a:r>
              <a:rPr lang="en-IN" sz="1800" dirty="0"/>
              <a:t>Mohan, B. A., et al., </a:t>
            </a:r>
            <a:r>
              <a:rPr lang="en-IN" sz="1800" i="1" dirty="0"/>
              <a:t>Demand Forecasting and Route Optimization in Supply   Chain Industry Using Data Analytics</a:t>
            </a:r>
            <a:r>
              <a:rPr lang="en-IN" sz="1800" dirty="0"/>
              <a:t>, </a:t>
            </a:r>
            <a:r>
              <a:rPr lang="en-IN" sz="1800" b="1" dirty="0"/>
              <a:t>IEEE ASIANCON 2021</a:t>
            </a:r>
            <a:r>
              <a:rPr lang="en-IN" sz="1800" dirty="0"/>
              <a:t>.</a:t>
            </a:r>
            <a:br>
              <a:rPr lang="en-IN" sz="1800" dirty="0"/>
            </a:br>
            <a:r>
              <a:rPr lang="en-IN" sz="1800" dirty="0"/>
              <a:t>  </a:t>
            </a:r>
            <a:r>
              <a:rPr lang="en-IN" sz="1800" dirty="0">
                <a:hlinkClick r:id="rId2"/>
              </a:rPr>
              <a:t>https://ieeexplore.ieee.org/document/9544942</a:t>
            </a:r>
            <a:endParaRPr lang="en-IN" sz="1800" dirty="0"/>
          </a:p>
          <a:p>
            <a:pPr>
              <a:buFont typeface="+mj-lt"/>
              <a:buAutoNum type="arabicPeriod"/>
            </a:pPr>
            <a:endParaRPr lang="en-IN" sz="1800" dirty="0"/>
          </a:p>
          <a:p>
            <a:pPr>
              <a:buFont typeface="+mj-lt"/>
              <a:buAutoNum type="arabicPeriod"/>
            </a:pPr>
            <a:endParaRPr lang="en-IN" sz="1800" dirty="0"/>
          </a:p>
          <a:p>
            <a:pPr>
              <a:buFont typeface="+mj-lt"/>
              <a:buAutoNum type="arabicPeriod"/>
            </a:pPr>
            <a:r>
              <a:rPr lang="en-IN" sz="1800" dirty="0"/>
              <a:t>Mohan, B. A., et al., </a:t>
            </a:r>
            <a:r>
              <a:rPr lang="en-IN" sz="1800" i="1" dirty="0"/>
              <a:t>Integrating Passenger Incentives to Optimize Routing for Demand-Responsive Systems</a:t>
            </a:r>
            <a:r>
              <a:rPr lang="en-IN" sz="1800" dirty="0"/>
              <a:t>, </a:t>
            </a:r>
            <a:r>
              <a:rPr lang="en-IN" sz="1800" b="1" dirty="0"/>
              <a:t>IEEE Access</a:t>
            </a:r>
            <a:r>
              <a:rPr lang="en-IN" sz="1800" dirty="0"/>
              <a:t>, 2021.</a:t>
            </a:r>
            <a:br>
              <a:rPr lang="en-IN" sz="1800" dirty="0"/>
            </a:br>
            <a:r>
              <a:rPr lang="en-IN" sz="1800" dirty="0"/>
              <a:t>https://doi.org/10.1109/ACCESS.2021.3055855</a:t>
            </a:r>
          </a:p>
          <a:p>
            <a:pPr>
              <a:buFont typeface="+mj-lt"/>
              <a:buAutoNum type="arabicPeriod"/>
            </a:pPr>
            <a:endParaRPr lang="en-IN" sz="1800" dirty="0"/>
          </a:p>
          <a:p>
            <a:pPr>
              <a:buFont typeface="+mj-lt"/>
              <a:buAutoNum type="arabicPeriod"/>
            </a:pPr>
            <a:endParaRPr lang="en-IN" sz="1800" dirty="0"/>
          </a:p>
          <a:p>
            <a:pPr>
              <a:buFont typeface="+mj-lt"/>
              <a:buAutoNum type="arabicPeriod"/>
            </a:pPr>
            <a:r>
              <a:rPr lang="en-IN" sz="1800" dirty="0"/>
              <a:t>Google Scholar – Demand-Aware Vehicle Routing Studies</a:t>
            </a:r>
            <a:br>
              <a:rPr lang="en-IN" sz="1800" dirty="0"/>
            </a:br>
            <a:r>
              <a:rPr lang="en-IN" sz="1800" dirty="0"/>
              <a:t>https://scholar.google.com/scholar?q=demand+forecasting+route+optimization</a:t>
            </a:r>
          </a:p>
        </p:txBody>
      </p:sp>
    </p:spTree>
    <p:extLst>
      <p:ext uri="{BB962C8B-B14F-4D97-AF65-F5344CB8AC3E}">
        <p14:creationId xmlns:p14="http://schemas.microsoft.com/office/powerpoint/2010/main" val="1488929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49"/>
          <p:cNvSpPr txBox="1">
            <a:spLocks noGrp="1"/>
          </p:cNvSpPr>
          <p:nvPr>
            <p:ph type="title"/>
          </p:nvPr>
        </p:nvSpPr>
        <p:spPr>
          <a:xfrm>
            <a:off x="234193" y="104344"/>
            <a:ext cx="10515600" cy="62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Features of LSTM</a:t>
            </a:r>
            <a:endParaRPr sz="3600" dirty="0"/>
          </a:p>
        </p:txBody>
      </p:sp>
      <p:sp>
        <p:nvSpPr>
          <p:cNvPr id="1054" name="Google Shape;1054;p49"/>
          <p:cNvSpPr txBox="1">
            <a:spLocks noGrp="1"/>
          </p:cNvSpPr>
          <p:nvPr>
            <p:ph type="body" idx="1"/>
          </p:nvPr>
        </p:nvSpPr>
        <p:spPr>
          <a:xfrm>
            <a:off x="234192" y="729816"/>
            <a:ext cx="11451600" cy="5318700"/>
          </a:xfrm>
          <a:prstGeom prst="rect">
            <a:avLst/>
          </a:prstGeom>
          <a:noFill/>
          <a:ln>
            <a:noFill/>
          </a:ln>
        </p:spPr>
        <p:txBody>
          <a:bodyPr spcFirstLastPara="1" wrap="square" lIns="91425" tIns="45700" rIns="91425" bIns="45700" anchor="t" anchorCtr="0">
            <a:normAutofit fontScale="85000" lnSpcReduction="20000"/>
          </a:bodyPr>
          <a:lstStyle/>
          <a:p>
            <a:pPr marL="0" lvl="0" indent="0" rtl="0">
              <a:lnSpc>
                <a:spcPct val="100000"/>
              </a:lnSpc>
              <a:spcBef>
                <a:spcPts val="0"/>
              </a:spcBef>
              <a:spcAft>
                <a:spcPts val="0"/>
              </a:spcAft>
              <a:buClr>
                <a:schemeClr val="dk1"/>
              </a:buClr>
              <a:buSzPts val="2400"/>
              <a:buNone/>
            </a:pPr>
            <a:r>
              <a:rPr lang="en-US" b="1" dirty="0"/>
              <a:t>Ability to remember information for long periods</a:t>
            </a:r>
            <a:br>
              <a:rPr lang="en-US" dirty="0"/>
            </a:br>
            <a:r>
              <a:rPr lang="en-US" dirty="0"/>
              <a:t>LSTM can store important information over long time intervals, which helps in learning long-term patterns in data.</a:t>
            </a:r>
          </a:p>
          <a:p>
            <a:pPr marL="0" lvl="0" indent="0">
              <a:lnSpc>
                <a:spcPct val="100000"/>
              </a:lnSpc>
              <a:spcBef>
                <a:spcPts val="0"/>
              </a:spcBef>
              <a:buSzPts val="2400"/>
              <a:buNone/>
            </a:pPr>
            <a:r>
              <a:rPr lang="en-US" b="1" dirty="0"/>
              <a:t>Handles time-dependent data effectively</a:t>
            </a:r>
            <a:br>
              <a:rPr lang="en-US" dirty="0"/>
            </a:br>
            <a:r>
              <a:rPr lang="en-US" dirty="0"/>
              <a:t>LSTM is specially designed for sequential and time-series data where past information affects future predictions.</a:t>
            </a:r>
          </a:p>
          <a:p>
            <a:pPr marL="0" lvl="0" indent="0">
              <a:lnSpc>
                <a:spcPct val="100000"/>
              </a:lnSpc>
              <a:spcBef>
                <a:spcPts val="0"/>
              </a:spcBef>
              <a:buSzPts val="2400"/>
              <a:buNone/>
            </a:pPr>
            <a:r>
              <a:rPr lang="en-US" b="1" dirty="0"/>
              <a:t>Gating mechanism</a:t>
            </a:r>
            <a:br>
              <a:rPr lang="en-US" dirty="0"/>
            </a:br>
            <a:r>
              <a:rPr lang="en-US" dirty="0"/>
              <a:t>LSTM uses three gates—</a:t>
            </a:r>
            <a:r>
              <a:rPr lang="en-US" b="1" dirty="0"/>
              <a:t>input gate, forget gate, and output gate</a:t>
            </a:r>
            <a:r>
              <a:rPr lang="en-US" dirty="0"/>
              <a:t>—to control what information should be stored, updated, or removed.</a:t>
            </a:r>
          </a:p>
          <a:p>
            <a:pPr marL="0" lvl="0" indent="0">
              <a:lnSpc>
                <a:spcPct val="100000"/>
              </a:lnSpc>
              <a:spcBef>
                <a:spcPts val="0"/>
              </a:spcBef>
              <a:buSzPts val="2400"/>
              <a:buNone/>
            </a:pPr>
            <a:r>
              <a:rPr lang="en-US" b="1" dirty="0"/>
              <a:t>Prevents vanishing gradient problem</a:t>
            </a:r>
            <a:br>
              <a:rPr lang="en-US" dirty="0"/>
            </a:br>
            <a:r>
              <a:rPr lang="en-US" dirty="0"/>
              <a:t>Unlike traditional RNNs, LSTM maintains a stable error flow, allowing effective learning even for long sequences.</a:t>
            </a:r>
          </a:p>
          <a:p>
            <a:pPr marL="0" lvl="0" indent="0">
              <a:lnSpc>
                <a:spcPct val="100000"/>
              </a:lnSpc>
              <a:spcBef>
                <a:spcPts val="0"/>
              </a:spcBef>
              <a:buSzPts val="2400"/>
              <a:buNone/>
            </a:pPr>
            <a:r>
              <a:rPr lang="en-US" b="1" dirty="0"/>
              <a:t>Selective memory</a:t>
            </a:r>
            <a:br>
              <a:rPr lang="en-US" dirty="0"/>
            </a:br>
            <a:r>
              <a:rPr lang="en-US" dirty="0"/>
              <a:t>LSTM learns what information is important and what can be ignored, improving prediction accuracy.</a:t>
            </a:r>
          </a:p>
          <a:p>
            <a:pPr marL="0" lvl="0" indent="0">
              <a:lnSpc>
                <a:spcPct val="100000"/>
              </a:lnSpc>
              <a:spcBef>
                <a:spcPts val="0"/>
              </a:spcBef>
              <a:buSzPts val="2400"/>
              <a:buNone/>
            </a:pPr>
            <a:r>
              <a:rPr lang="en-US" b="1" dirty="0"/>
              <a:t>Robust to noisy data</a:t>
            </a:r>
            <a:br>
              <a:rPr lang="en-US" dirty="0"/>
            </a:br>
            <a:r>
              <a:rPr lang="en-US" dirty="0"/>
              <a:t>It can handle irregular or noisy sequences such as traffic data or user behavior patterns.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50"/>
          <p:cNvSpPr txBox="1">
            <a:spLocks noGrp="1"/>
          </p:cNvSpPr>
          <p:nvPr>
            <p:ph type="body" idx="1"/>
          </p:nvPr>
        </p:nvSpPr>
        <p:spPr>
          <a:xfrm>
            <a:off x="234193" y="1037072"/>
            <a:ext cx="11451600" cy="4783856"/>
          </a:xfrm>
          <a:prstGeom prst="rect">
            <a:avLst/>
          </a:prstGeom>
          <a:noFill/>
          <a:ln>
            <a:noFill/>
          </a:ln>
        </p:spPr>
        <p:txBody>
          <a:bodyPr spcFirstLastPara="1" wrap="square" lIns="91425" tIns="45700" rIns="91425" bIns="45700" anchor="t" anchorCtr="0">
            <a:normAutofit lnSpcReduction="10000"/>
          </a:bodyPr>
          <a:lstStyle/>
          <a:p>
            <a:pPr marL="0" lvl="0" indent="0">
              <a:lnSpc>
                <a:spcPct val="100000"/>
              </a:lnSpc>
              <a:spcBef>
                <a:spcPts val="0"/>
              </a:spcBef>
              <a:buSzPts val="1600"/>
              <a:buNone/>
            </a:pPr>
            <a:r>
              <a:rPr lang="en-US" sz="2000" b="1" dirty="0"/>
              <a:t>Traffic and travel data are time-dependent</a:t>
            </a:r>
            <a:br>
              <a:rPr lang="en-US" sz="2000" dirty="0"/>
            </a:br>
            <a:r>
              <a:rPr lang="en-US" sz="2000" dirty="0"/>
              <a:t>Route efficiency depends on past traffic conditions. LSTM is designed to model such time-series data.</a:t>
            </a:r>
          </a:p>
          <a:p>
            <a:pPr marL="0" lvl="0" indent="0">
              <a:lnSpc>
                <a:spcPct val="100000"/>
              </a:lnSpc>
              <a:spcBef>
                <a:spcPts val="0"/>
              </a:spcBef>
              <a:buSzPts val="1600"/>
              <a:buNone/>
            </a:pPr>
            <a:r>
              <a:rPr lang="en-US" sz="2000" b="1" dirty="0"/>
              <a:t>Learns long-term traffic patterns</a:t>
            </a:r>
            <a:br>
              <a:rPr lang="en-US" sz="2000" dirty="0"/>
            </a:br>
            <a:r>
              <a:rPr lang="en-US" sz="2000" dirty="0"/>
              <a:t>LSTM can capture daily, weekly, and seasonal congestion trends that affect route performance.</a:t>
            </a:r>
          </a:p>
          <a:p>
            <a:pPr marL="0" lvl="0" indent="0">
              <a:lnSpc>
                <a:spcPct val="100000"/>
              </a:lnSpc>
              <a:spcBef>
                <a:spcPts val="0"/>
              </a:spcBef>
              <a:buSzPts val="1600"/>
              <a:buNone/>
            </a:pPr>
            <a:r>
              <a:rPr lang="en-US" sz="2000" b="1" dirty="0"/>
              <a:t>Accurate travel-time prediction</a:t>
            </a:r>
            <a:br>
              <a:rPr lang="en-US" sz="2000" dirty="0"/>
            </a:br>
            <a:r>
              <a:rPr lang="en-US" sz="2000" dirty="0"/>
              <a:t>By learning from historical trip data, LSTM predicts future delays more accurately, helping choose faster routes.</a:t>
            </a:r>
          </a:p>
          <a:p>
            <a:pPr marL="0" lvl="0" indent="0">
              <a:lnSpc>
                <a:spcPct val="100000"/>
              </a:lnSpc>
              <a:spcBef>
                <a:spcPts val="0"/>
              </a:spcBef>
              <a:buSzPts val="1600"/>
              <a:buNone/>
            </a:pPr>
            <a:r>
              <a:rPr lang="en-US" sz="2000" b="1" dirty="0"/>
              <a:t>Handles dynamic and non-linear traffic behavior</a:t>
            </a:r>
            <a:br>
              <a:rPr lang="en-US" sz="2000" dirty="0"/>
            </a:br>
            <a:r>
              <a:rPr lang="en-US" sz="2000" dirty="0"/>
              <a:t>Real-world traffic is complex and unpredictable. LSTM adapts well to these variations.</a:t>
            </a:r>
          </a:p>
          <a:p>
            <a:pPr marL="0" lvl="0" indent="0">
              <a:lnSpc>
                <a:spcPct val="100000"/>
              </a:lnSpc>
              <a:spcBef>
                <a:spcPts val="0"/>
              </a:spcBef>
              <a:buSzPts val="1600"/>
              <a:buNone/>
            </a:pPr>
            <a:r>
              <a:rPr lang="en-US" sz="2000" b="1" dirty="0"/>
              <a:t>Reduces fuel cost and carbon emissions</a:t>
            </a:r>
            <a:br>
              <a:rPr lang="en-US" sz="2000" dirty="0"/>
            </a:br>
            <a:r>
              <a:rPr lang="en-US" sz="2000" dirty="0"/>
              <a:t>Better travel-time predictions help avoid congested routes, leading to less fuel usage and lower CO₂ emissions.</a:t>
            </a:r>
          </a:p>
          <a:p>
            <a:pPr marL="0" lvl="0" indent="0">
              <a:lnSpc>
                <a:spcPct val="100000"/>
              </a:lnSpc>
              <a:spcBef>
                <a:spcPts val="0"/>
              </a:spcBef>
              <a:buSzPts val="1600"/>
              <a:buNone/>
            </a:pPr>
            <a:r>
              <a:rPr lang="en-US" sz="2000" b="1" dirty="0"/>
              <a:t>Works well with large real-world datasets</a:t>
            </a:r>
            <a:br>
              <a:rPr lang="en-US" sz="2000" dirty="0"/>
            </a:br>
            <a:r>
              <a:rPr lang="en-US" sz="2000" dirty="0"/>
              <a:t>LSTM scales effectively with large transportation datasets like the TLC Trip Record Data.</a:t>
            </a:r>
          </a:p>
          <a:p>
            <a:pPr marL="0" lvl="0" indent="0">
              <a:lnSpc>
                <a:spcPct val="100000"/>
              </a:lnSpc>
              <a:spcBef>
                <a:spcPts val="0"/>
              </a:spcBef>
              <a:buSzPts val="1600"/>
              <a:buNone/>
            </a:pPr>
            <a:r>
              <a:rPr lang="en-US" sz="2000" b="1" dirty="0"/>
              <a:t>Supports real-time and predictive routing decisions</a:t>
            </a:r>
            <a:br>
              <a:rPr lang="en-US" sz="2000" dirty="0"/>
            </a:br>
            <a:r>
              <a:rPr lang="en-US" sz="2000" dirty="0"/>
              <a:t>LSTM predictions can be fed into routing algorithms to dynamically select optimal routes.</a:t>
            </a:r>
            <a:endParaRPr sz="2000" b="1" dirty="0"/>
          </a:p>
        </p:txBody>
      </p:sp>
      <p:sp>
        <p:nvSpPr>
          <p:cNvPr id="1060" name="Google Shape;1060;p50"/>
          <p:cNvSpPr txBox="1">
            <a:spLocks noGrp="1"/>
          </p:cNvSpPr>
          <p:nvPr>
            <p:ph type="title"/>
          </p:nvPr>
        </p:nvSpPr>
        <p:spPr>
          <a:xfrm>
            <a:off x="234193" y="104344"/>
            <a:ext cx="10515600" cy="62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Why LSTM?</a:t>
            </a:r>
            <a:endParaRPr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51"/>
          <p:cNvSpPr txBox="1">
            <a:spLocks noGrp="1"/>
          </p:cNvSpPr>
          <p:nvPr>
            <p:ph type="title"/>
          </p:nvPr>
        </p:nvSpPr>
        <p:spPr>
          <a:xfrm>
            <a:off x="838200" y="147013"/>
            <a:ext cx="1972200" cy="66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a:solidFill>
                  <a:srgbClr val="CC0066"/>
                </a:solidFill>
                <a:latin typeface="Times New Roman"/>
                <a:ea typeface="Times New Roman"/>
                <a:cs typeface="Times New Roman"/>
                <a:sym typeface="Times New Roman"/>
              </a:rPr>
              <a:t>Diagram</a:t>
            </a:r>
            <a:endParaRPr/>
          </a:p>
        </p:txBody>
      </p:sp>
      <p:sp>
        <p:nvSpPr>
          <p:cNvPr id="3" name="Text Placeholder 2">
            <a:extLst>
              <a:ext uri="{FF2B5EF4-FFF2-40B4-BE49-F238E27FC236}">
                <a16:creationId xmlns:a16="http://schemas.microsoft.com/office/drawing/2014/main" id="{A3AA17DB-2310-F667-A5CD-887669DC79A6}"/>
              </a:ext>
            </a:extLst>
          </p:cNvPr>
          <p:cNvSpPr>
            <a:spLocks noGrp="1"/>
          </p:cNvSpPr>
          <p:nvPr>
            <p:ph type="body" idx="1"/>
          </p:nvPr>
        </p:nvSpPr>
        <p:spPr>
          <a:xfrm>
            <a:off x="838200" y="1049938"/>
            <a:ext cx="10515600" cy="4351200"/>
          </a:xfrm>
        </p:spPr>
        <p:txBody>
          <a:bodyPr/>
          <a:lstStyle/>
          <a:p>
            <a:endParaRPr lang="en-US" dirty="0"/>
          </a:p>
          <a:p>
            <a:endParaRPr lang="en-US" dirty="0"/>
          </a:p>
          <a:p>
            <a:endParaRPr lang="en-US" dirty="0"/>
          </a:p>
          <a:p>
            <a:endParaRPr lang="en-US" dirty="0"/>
          </a:p>
          <a:p>
            <a:endParaRPr lang="en-US" dirty="0"/>
          </a:p>
          <a:p>
            <a:endParaRPr lang="en-US" dirty="0"/>
          </a:p>
          <a:p>
            <a:endParaRPr lang="en-US" sz="1600" dirty="0"/>
          </a:p>
          <a:p>
            <a:pPr marL="50800" indent="0">
              <a:buNone/>
            </a:pPr>
            <a:r>
              <a:rPr lang="en-US" sz="1600" dirty="0"/>
              <a:t>                                   LSTM Architecture</a:t>
            </a:r>
          </a:p>
        </p:txBody>
      </p:sp>
      <p:pic>
        <p:nvPicPr>
          <p:cNvPr id="9" name="Picture 8" descr="A diagram of a mathematical equation&#10;&#10;AI-generated content may be incorrect.">
            <a:extLst>
              <a:ext uri="{FF2B5EF4-FFF2-40B4-BE49-F238E27FC236}">
                <a16:creationId xmlns:a16="http://schemas.microsoft.com/office/drawing/2014/main" id="{5FD443BA-A741-3113-935C-ECFFAE99BB18}"/>
              </a:ext>
            </a:extLst>
          </p:cNvPr>
          <p:cNvPicPr>
            <a:picLocks noChangeAspect="1"/>
          </p:cNvPicPr>
          <p:nvPr/>
        </p:nvPicPr>
        <p:blipFill>
          <a:blip r:embed="rId3"/>
          <a:stretch>
            <a:fillRect/>
          </a:stretch>
        </p:blipFill>
        <p:spPr>
          <a:xfrm>
            <a:off x="4375833" y="203852"/>
            <a:ext cx="6485088" cy="1930445"/>
          </a:xfrm>
          <a:prstGeom prst="rect">
            <a:avLst/>
          </a:prstGeom>
        </p:spPr>
      </p:pic>
      <p:pic>
        <p:nvPicPr>
          <p:cNvPr id="11" name="Picture 10" descr="A diagram of a mathematical equation&#10;&#10;AI-generated content may be incorrect.">
            <a:extLst>
              <a:ext uri="{FF2B5EF4-FFF2-40B4-BE49-F238E27FC236}">
                <a16:creationId xmlns:a16="http://schemas.microsoft.com/office/drawing/2014/main" id="{4396F070-29E2-9711-B3B2-3B321B4D89A4}"/>
              </a:ext>
            </a:extLst>
          </p:cNvPr>
          <p:cNvPicPr>
            <a:picLocks noChangeAspect="1"/>
          </p:cNvPicPr>
          <p:nvPr/>
        </p:nvPicPr>
        <p:blipFill>
          <a:blip r:embed="rId4"/>
          <a:stretch>
            <a:fillRect/>
          </a:stretch>
        </p:blipFill>
        <p:spPr>
          <a:xfrm>
            <a:off x="5953291" y="2010908"/>
            <a:ext cx="6238709" cy="1938949"/>
          </a:xfrm>
          <a:prstGeom prst="rect">
            <a:avLst/>
          </a:prstGeom>
        </p:spPr>
      </p:pic>
      <p:pic>
        <p:nvPicPr>
          <p:cNvPr id="15" name="Picture 14" descr="A diagram of a mathematical equation&#10;&#10;AI-generated content may be incorrect.">
            <a:extLst>
              <a:ext uri="{FF2B5EF4-FFF2-40B4-BE49-F238E27FC236}">
                <a16:creationId xmlns:a16="http://schemas.microsoft.com/office/drawing/2014/main" id="{48F0B16D-F69C-EE56-08E8-6A5AA28C4857}"/>
              </a:ext>
            </a:extLst>
          </p:cNvPr>
          <p:cNvPicPr>
            <a:picLocks noChangeAspect="1"/>
          </p:cNvPicPr>
          <p:nvPr/>
        </p:nvPicPr>
        <p:blipFill>
          <a:blip r:embed="rId5"/>
          <a:stretch>
            <a:fillRect/>
          </a:stretch>
        </p:blipFill>
        <p:spPr>
          <a:xfrm>
            <a:off x="6201416" y="4135014"/>
            <a:ext cx="5990584" cy="1950422"/>
          </a:xfrm>
          <a:prstGeom prst="rect">
            <a:avLst/>
          </a:prstGeom>
        </p:spPr>
      </p:pic>
      <p:pic>
        <p:nvPicPr>
          <p:cNvPr id="21" name="Picture 20" descr="A diagram of a flowchart&#10;&#10;AI-generated content may be incorrect.">
            <a:extLst>
              <a:ext uri="{FF2B5EF4-FFF2-40B4-BE49-F238E27FC236}">
                <a16:creationId xmlns:a16="http://schemas.microsoft.com/office/drawing/2014/main" id="{E469B91F-9798-EE60-B260-B2E7B3D36674}"/>
              </a:ext>
            </a:extLst>
          </p:cNvPr>
          <p:cNvPicPr>
            <a:picLocks noChangeAspect="1"/>
          </p:cNvPicPr>
          <p:nvPr/>
        </p:nvPicPr>
        <p:blipFill>
          <a:blip r:embed="rId6"/>
          <a:stretch>
            <a:fillRect/>
          </a:stretch>
        </p:blipFill>
        <p:spPr>
          <a:xfrm>
            <a:off x="457201" y="2010908"/>
            <a:ext cx="4906016" cy="24815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ow of colorful rectangular boxes with text&#10;&#10;AI-generated content may be incorrect.">
            <a:extLst>
              <a:ext uri="{FF2B5EF4-FFF2-40B4-BE49-F238E27FC236}">
                <a16:creationId xmlns:a16="http://schemas.microsoft.com/office/drawing/2014/main" id="{3251416D-7745-A533-85C9-F37E95020776}"/>
              </a:ext>
            </a:extLst>
          </p:cNvPr>
          <p:cNvPicPr>
            <a:picLocks noChangeAspect="1"/>
          </p:cNvPicPr>
          <p:nvPr/>
        </p:nvPicPr>
        <p:blipFill>
          <a:blip r:embed="rId2"/>
          <a:stretch>
            <a:fillRect/>
          </a:stretch>
        </p:blipFill>
        <p:spPr>
          <a:xfrm>
            <a:off x="2438401" y="0"/>
            <a:ext cx="7766956" cy="6102609"/>
          </a:xfrm>
          <a:prstGeom prst="rect">
            <a:avLst/>
          </a:prstGeom>
        </p:spPr>
      </p:pic>
    </p:spTree>
    <p:extLst>
      <p:ext uri="{BB962C8B-B14F-4D97-AF65-F5344CB8AC3E}">
        <p14:creationId xmlns:p14="http://schemas.microsoft.com/office/powerpoint/2010/main" val="3302638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52"/>
          <p:cNvSpPr txBox="1">
            <a:spLocks noGrp="1"/>
          </p:cNvSpPr>
          <p:nvPr>
            <p:ph type="title"/>
          </p:nvPr>
        </p:nvSpPr>
        <p:spPr>
          <a:xfrm>
            <a:off x="688910" y="239292"/>
            <a:ext cx="5544000" cy="72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Methodology of Approach</a:t>
            </a:r>
            <a:endParaRPr dirty="0"/>
          </a:p>
        </p:txBody>
      </p:sp>
      <p:sp>
        <p:nvSpPr>
          <p:cNvPr id="1074" name="Google Shape;1074;p52"/>
          <p:cNvSpPr txBox="1">
            <a:spLocks noGrp="1"/>
          </p:cNvSpPr>
          <p:nvPr>
            <p:ph type="body" idx="1"/>
          </p:nvPr>
        </p:nvSpPr>
        <p:spPr>
          <a:xfrm>
            <a:off x="688910" y="965892"/>
            <a:ext cx="10515600" cy="4800386"/>
          </a:xfrm>
          <a:prstGeom prst="rect">
            <a:avLst/>
          </a:prstGeom>
          <a:noFill/>
          <a:ln>
            <a:noFill/>
          </a:ln>
        </p:spPr>
        <p:txBody>
          <a:bodyPr spcFirstLastPara="1" wrap="square" lIns="91425" tIns="45700" rIns="91425" bIns="45700" anchor="t" anchorCtr="0">
            <a:normAutofit fontScale="47500" lnSpcReduction="20000"/>
          </a:bodyPr>
          <a:lstStyle/>
          <a:p>
            <a:pPr marL="50800" indent="0">
              <a:buNone/>
            </a:pPr>
            <a:r>
              <a:rPr lang="en-US" sz="3200" b="1" dirty="0"/>
              <a:t>1. </a:t>
            </a:r>
            <a:r>
              <a:rPr lang="en-US" sz="3600" b="1" dirty="0"/>
              <a:t>Dataset Selection</a:t>
            </a:r>
          </a:p>
          <a:p>
            <a:r>
              <a:rPr lang="en-US" sz="3600" dirty="0"/>
              <a:t>The NYC </a:t>
            </a:r>
            <a:r>
              <a:rPr lang="en-US" sz="3600" b="1" dirty="0"/>
              <a:t>TLC Trip Record Data</a:t>
            </a:r>
            <a:r>
              <a:rPr lang="en-US" sz="3600" dirty="0"/>
              <a:t> is used as the primary dataset.</a:t>
            </a:r>
            <a:br>
              <a:rPr lang="en-US" sz="3600" dirty="0"/>
            </a:br>
            <a:r>
              <a:rPr lang="en-US" sz="3600" dirty="0"/>
              <a:t>It contains time-stamped trip information such as pickup/drop-off locations, trip duration, distance, fare, and congestion charges, making it suitable for time-series analysis and route optimization.</a:t>
            </a:r>
          </a:p>
          <a:p>
            <a:pPr marL="50800" indent="0">
              <a:buNone/>
            </a:pPr>
            <a:r>
              <a:rPr lang="en-US" sz="3600" b="1" dirty="0"/>
              <a:t>2. Data Preprocessing</a:t>
            </a:r>
          </a:p>
          <a:p>
            <a:r>
              <a:rPr lang="en-US" sz="3600" dirty="0"/>
              <a:t>Remove incomplete, noisy, and invalid trip records</a:t>
            </a:r>
          </a:p>
          <a:p>
            <a:r>
              <a:rPr lang="en-US" sz="3600" dirty="0"/>
              <a:t>Handle outliers such as zero-distance or abnormal-duration trips</a:t>
            </a:r>
          </a:p>
          <a:p>
            <a:r>
              <a:rPr lang="en-US" sz="3600" dirty="0"/>
              <a:t>Extract temporal features (hour, day, peak/off-peak)</a:t>
            </a:r>
          </a:p>
          <a:p>
            <a:r>
              <a:rPr lang="en-US" sz="3600" dirty="0"/>
              <a:t>Normalize numerical features for stable LSTM training</a:t>
            </a:r>
          </a:p>
          <a:p>
            <a:r>
              <a:rPr lang="en-US" sz="3600" dirty="0"/>
              <a:t>Encode pickup and drop-off zones</a:t>
            </a:r>
          </a:p>
          <a:p>
            <a:pPr marL="50800" indent="0">
              <a:buNone/>
            </a:pPr>
            <a:r>
              <a:rPr lang="en-US" sz="3600" b="1" dirty="0"/>
              <a:t>3. Time-Series Sequence Construction</a:t>
            </a:r>
          </a:p>
          <a:p>
            <a:r>
              <a:rPr lang="en-US" sz="3600" dirty="0"/>
              <a:t>Group trip data by location and time</a:t>
            </a:r>
          </a:p>
          <a:p>
            <a:r>
              <a:rPr lang="en-US" sz="3600" dirty="0"/>
              <a:t>Convert historical data into sequential input windows</a:t>
            </a:r>
          </a:p>
          <a:p>
            <a:r>
              <a:rPr lang="en-US" sz="3600" dirty="0"/>
              <a:t>Create sequences where past </a:t>
            </a:r>
            <a:r>
              <a:rPr lang="en-US" sz="3600" i="1" dirty="0"/>
              <a:t>T</a:t>
            </a:r>
            <a:r>
              <a:rPr lang="en-US" sz="3600" dirty="0"/>
              <a:t> time steps predict the next value</a:t>
            </a:r>
          </a:p>
          <a:p>
            <a:endParaRPr lang="en-US" sz="3600" dirty="0"/>
          </a:p>
          <a:p>
            <a:pPr marL="50800" indent="0">
              <a:buNone/>
            </a:pPr>
            <a:endParaRPr lang="en-US" dirty="0"/>
          </a:p>
          <a:p>
            <a:pPr marL="11" lvl="0" indent="0" algn="l" rtl="0">
              <a:lnSpc>
                <a:spcPct val="90000"/>
              </a:lnSpc>
              <a:spcBef>
                <a:spcPts val="0"/>
              </a:spcBef>
              <a:spcAft>
                <a:spcPts val="0"/>
              </a:spcAft>
              <a:buClr>
                <a:schemeClr val="dk1"/>
              </a:buClr>
              <a:buSzPts val="20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66218E6-4AFD-AD03-3FB5-FE07DB17C7D1}"/>
              </a:ext>
            </a:extLst>
          </p:cNvPr>
          <p:cNvSpPr>
            <a:spLocks noGrp="1"/>
          </p:cNvSpPr>
          <p:nvPr>
            <p:ph type="body" idx="1"/>
          </p:nvPr>
        </p:nvSpPr>
        <p:spPr>
          <a:xfrm>
            <a:off x="838200" y="473529"/>
            <a:ext cx="10515600" cy="5703296"/>
          </a:xfrm>
        </p:spPr>
        <p:txBody>
          <a:bodyPr>
            <a:normAutofit fontScale="92500" lnSpcReduction="20000"/>
          </a:bodyPr>
          <a:lstStyle/>
          <a:p>
            <a:pPr marL="50800" indent="0">
              <a:buNone/>
            </a:pPr>
            <a:r>
              <a:rPr lang="en-US" sz="2400" b="1" dirty="0"/>
              <a:t>4. Demand Forecasting using LSTM</a:t>
            </a:r>
          </a:p>
          <a:p>
            <a:r>
              <a:rPr lang="en-US" sz="2400" dirty="0"/>
              <a:t>Train an LSTM model on historical trip counts</a:t>
            </a:r>
          </a:p>
          <a:p>
            <a:r>
              <a:rPr lang="en-US" sz="2400" dirty="0"/>
              <a:t>Learn temporal demand patterns across zones</a:t>
            </a:r>
          </a:p>
          <a:p>
            <a:r>
              <a:rPr lang="en-US" sz="2400" dirty="0"/>
              <a:t>Predict future demand for different locations and time intervals</a:t>
            </a:r>
          </a:p>
          <a:p>
            <a:pPr marL="50800" indent="0">
              <a:buNone/>
            </a:pPr>
            <a:r>
              <a:rPr lang="en-US" sz="2400" b="1" dirty="0"/>
              <a:t>5. Travel Time Prediction using LSTM</a:t>
            </a:r>
          </a:p>
          <a:p>
            <a:r>
              <a:rPr lang="en-US" sz="2400" dirty="0"/>
              <a:t>Use another LSTM model to learn patterns in trip duration and distance</a:t>
            </a:r>
          </a:p>
          <a:p>
            <a:r>
              <a:rPr lang="en-US" sz="2400" dirty="0"/>
              <a:t>Predict future travel times considering time-of-day effects</a:t>
            </a:r>
          </a:p>
          <a:p>
            <a:r>
              <a:rPr lang="en-US" sz="2400" dirty="0"/>
              <a:t>Output estimated travel times between zones</a:t>
            </a:r>
          </a:p>
          <a:p>
            <a:pPr marL="50800" indent="0">
              <a:buNone/>
            </a:pPr>
            <a:r>
              <a:rPr lang="en-US" sz="2400" b="1" dirty="0"/>
              <a:t>6. Route Optimization</a:t>
            </a:r>
          </a:p>
          <a:p>
            <a:r>
              <a:rPr lang="en-US" sz="2400" dirty="0"/>
              <a:t>Use predicted travel times as edge weights in a routing graph</a:t>
            </a:r>
          </a:p>
          <a:p>
            <a:r>
              <a:rPr lang="en-US" sz="2400" dirty="0"/>
              <a:t>Apply shortest-path algorithms (Dijkstra / A*)</a:t>
            </a:r>
          </a:p>
          <a:p>
            <a:r>
              <a:rPr lang="en-US" sz="2400" dirty="0"/>
              <a:t>Select routes that minimize:</a:t>
            </a:r>
          </a:p>
          <a:p>
            <a:pPr lvl="1"/>
            <a:r>
              <a:rPr lang="en-US" dirty="0"/>
              <a:t>travel time</a:t>
            </a:r>
          </a:p>
          <a:p>
            <a:pPr lvl="1"/>
            <a:r>
              <a:rPr lang="en-US" dirty="0"/>
              <a:t>operational cost</a:t>
            </a:r>
          </a:p>
          <a:p>
            <a:pPr lvl="1"/>
            <a:r>
              <a:rPr lang="en-US" dirty="0"/>
              <a:t>fuel consumption</a:t>
            </a:r>
          </a:p>
          <a:p>
            <a:endParaRPr lang="en-US" dirty="0"/>
          </a:p>
        </p:txBody>
      </p:sp>
    </p:spTree>
    <p:extLst>
      <p:ext uri="{BB962C8B-B14F-4D97-AF65-F5344CB8AC3E}">
        <p14:creationId xmlns:p14="http://schemas.microsoft.com/office/powerpoint/2010/main" val="2198723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27C24E-B3A8-87D8-8F1D-AB29060D1AF5}"/>
              </a:ext>
            </a:extLst>
          </p:cNvPr>
          <p:cNvSpPr>
            <a:spLocks noGrp="1"/>
          </p:cNvSpPr>
          <p:nvPr>
            <p:ph type="body" idx="1"/>
          </p:nvPr>
        </p:nvSpPr>
        <p:spPr>
          <a:xfrm>
            <a:off x="838200" y="391886"/>
            <a:ext cx="10515600" cy="5784939"/>
          </a:xfrm>
        </p:spPr>
        <p:txBody>
          <a:bodyPr>
            <a:normAutofit fontScale="77500" lnSpcReduction="20000"/>
          </a:bodyPr>
          <a:lstStyle/>
          <a:p>
            <a:pPr marL="50800" indent="0">
              <a:buNone/>
            </a:pPr>
            <a:r>
              <a:rPr lang="en-US" b="1" dirty="0"/>
              <a:t>7. Cost and Carbon Footprint Estimation</a:t>
            </a:r>
          </a:p>
          <a:p>
            <a:r>
              <a:rPr lang="en-US" dirty="0"/>
              <a:t>Estimate fuel usage based on predicted travel time and distance</a:t>
            </a:r>
          </a:p>
          <a:p>
            <a:r>
              <a:rPr lang="en-US" dirty="0"/>
              <a:t>Compute CO₂ emissions</a:t>
            </a:r>
          </a:p>
          <a:p>
            <a:r>
              <a:rPr lang="en-US" dirty="0"/>
              <a:t>Compare optimized routes with baseline routes</a:t>
            </a:r>
          </a:p>
          <a:p>
            <a:pPr marL="50800" indent="0">
              <a:buNone/>
            </a:pPr>
            <a:r>
              <a:rPr lang="en-US" b="1" dirty="0"/>
              <a:t>8. Model Evaluation</a:t>
            </a:r>
          </a:p>
          <a:p>
            <a:r>
              <a:rPr lang="en-US" dirty="0"/>
              <a:t>Evaluate LSTM models using MAE, RMSE</a:t>
            </a:r>
          </a:p>
          <a:p>
            <a:r>
              <a:rPr lang="en-US" dirty="0"/>
              <a:t>Measure reduction in:</a:t>
            </a:r>
          </a:p>
          <a:p>
            <a:pPr lvl="1"/>
            <a:r>
              <a:rPr lang="en-US" dirty="0"/>
              <a:t>travel time</a:t>
            </a:r>
          </a:p>
          <a:p>
            <a:pPr lvl="1"/>
            <a:r>
              <a:rPr lang="en-US" dirty="0"/>
              <a:t>cost</a:t>
            </a:r>
          </a:p>
          <a:p>
            <a:pPr lvl="1"/>
            <a:r>
              <a:rPr lang="en-US" dirty="0"/>
              <a:t>carbon emissions</a:t>
            </a:r>
          </a:p>
          <a:p>
            <a:r>
              <a:rPr lang="en-US" dirty="0"/>
              <a:t>Validate results on test data</a:t>
            </a:r>
          </a:p>
          <a:p>
            <a:pPr marL="50800" indent="0">
              <a:buNone/>
            </a:pPr>
            <a:r>
              <a:rPr lang="en-US" b="1" dirty="0"/>
              <a:t>9. Final Output</a:t>
            </a:r>
          </a:p>
          <a:p>
            <a:r>
              <a:rPr lang="en-US" dirty="0"/>
              <a:t>Optimized routes</a:t>
            </a:r>
          </a:p>
          <a:p>
            <a:r>
              <a:rPr lang="en-US" dirty="0"/>
              <a:t>Forecasted demand hotspots</a:t>
            </a:r>
          </a:p>
          <a:p>
            <a:r>
              <a:rPr lang="en-US" dirty="0"/>
              <a:t>Reduced delivery time</a:t>
            </a:r>
          </a:p>
          <a:p>
            <a:r>
              <a:rPr lang="en-US" dirty="0"/>
              <a:t>Lower cost and environmental impact</a:t>
            </a:r>
          </a:p>
          <a:p>
            <a:endParaRPr lang="en-US" dirty="0"/>
          </a:p>
        </p:txBody>
      </p:sp>
    </p:spTree>
    <p:extLst>
      <p:ext uri="{BB962C8B-B14F-4D97-AF65-F5344CB8AC3E}">
        <p14:creationId xmlns:p14="http://schemas.microsoft.com/office/powerpoint/2010/main" val="3659300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53"/>
          <p:cNvSpPr txBox="1">
            <a:spLocks noGrp="1"/>
          </p:cNvSpPr>
          <p:nvPr>
            <p:ph type="title"/>
          </p:nvPr>
        </p:nvSpPr>
        <p:spPr>
          <a:xfrm>
            <a:off x="838200" y="282383"/>
            <a:ext cx="8240486" cy="850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6114D"/>
              </a:buClr>
              <a:buSzPts val="3600"/>
              <a:buFont typeface="Times New Roman"/>
              <a:buNone/>
            </a:pPr>
            <a:r>
              <a:rPr lang="en-IN" sz="3600" b="1" dirty="0">
                <a:solidFill>
                  <a:srgbClr val="B6114D"/>
                </a:solidFill>
                <a:latin typeface="Times New Roman"/>
                <a:ea typeface="Times New Roman"/>
                <a:cs typeface="Times New Roman"/>
                <a:sym typeface="Times New Roman"/>
              </a:rPr>
              <a:t>Hyperparameter Table for LSTM</a:t>
            </a:r>
            <a:endParaRPr dirty="0"/>
          </a:p>
        </p:txBody>
      </p:sp>
      <p:graphicFrame>
        <p:nvGraphicFramePr>
          <p:cNvPr id="2" name="Table 1">
            <a:extLst>
              <a:ext uri="{FF2B5EF4-FFF2-40B4-BE49-F238E27FC236}">
                <a16:creationId xmlns:a16="http://schemas.microsoft.com/office/drawing/2014/main" id="{BE655CC1-606A-6393-6549-C1EDEFFD15F7}"/>
              </a:ext>
            </a:extLst>
          </p:cNvPr>
          <p:cNvGraphicFramePr>
            <a:graphicFrameLocks noGrp="1"/>
          </p:cNvGraphicFramePr>
          <p:nvPr>
            <p:extLst>
              <p:ext uri="{D42A27DB-BD31-4B8C-83A1-F6EECF244321}">
                <p14:modId xmlns:p14="http://schemas.microsoft.com/office/powerpoint/2010/main" val="686970616"/>
              </p:ext>
            </p:extLst>
          </p:nvPr>
        </p:nvGraphicFramePr>
        <p:xfrm>
          <a:off x="838200" y="1132583"/>
          <a:ext cx="10515600" cy="4907501"/>
        </p:xfrm>
        <a:graphic>
          <a:graphicData uri="http://schemas.openxmlformats.org/drawingml/2006/table">
            <a:tbl>
              <a:tblPr firstRow="1" firstCol="1" bandRow="1">
                <a:tableStyleId>{B229F12B-DD2F-434A-8BDD-88915C9BCD54}</a:tableStyleId>
              </a:tblPr>
              <a:tblGrid>
                <a:gridCol w="3505200">
                  <a:extLst>
                    <a:ext uri="{9D8B030D-6E8A-4147-A177-3AD203B41FA5}">
                      <a16:colId xmlns:a16="http://schemas.microsoft.com/office/drawing/2014/main" val="4206524387"/>
                    </a:ext>
                  </a:extLst>
                </a:gridCol>
                <a:gridCol w="3505200">
                  <a:extLst>
                    <a:ext uri="{9D8B030D-6E8A-4147-A177-3AD203B41FA5}">
                      <a16:colId xmlns:a16="http://schemas.microsoft.com/office/drawing/2014/main" val="1376647199"/>
                    </a:ext>
                  </a:extLst>
                </a:gridCol>
                <a:gridCol w="3505200">
                  <a:extLst>
                    <a:ext uri="{9D8B030D-6E8A-4147-A177-3AD203B41FA5}">
                      <a16:colId xmlns:a16="http://schemas.microsoft.com/office/drawing/2014/main" val="303435346"/>
                    </a:ext>
                  </a:extLst>
                </a:gridCol>
              </a:tblGrid>
              <a:tr h="301007">
                <a:tc>
                  <a:txBody>
                    <a:bodyPr/>
                    <a:lstStyle/>
                    <a:p>
                      <a:pPr marL="0" marR="0" algn="ctr">
                        <a:lnSpc>
                          <a:spcPct val="115000"/>
                        </a:lnSpc>
                        <a:spcAft>
                          <a:spcPts val="800"/>
                        </a:spcAft>
                        <a:buNone/>
                      </a:pPr>
                      <a:r>
                        <a:rPr lang="en-US" sz="1400" b="1" kern="100">
                          <a:effectLst/>
                        </a:rPr>
                        <a:t>Hyperparameter</a:t>
                      </a:r>
                      <a:endParaRPr lang="en-US" sz="1400" b="1"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b="1" kern="100">
                          <a:effectLst/>
                        </a:rPr>
                        <a:t>Description</a:t>
                      </a:r>
                      <a:endParaRPr lang="en-US" sz="1400" b="1"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b="1" kern="100" dirty="0">
                          <a:effectLst/>
                        </a:rPr>
                        <a:t>Values Used in Paper</a:t>
                      </a:r>
                      <a:endParaRPr lang="en-US"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57513199"/>
                  </a:ext>
                </a:extLst>
              </a:tr>
              <a:tr h="301007">
                <a:tc>
                  <a:txBody>
                    <a:bodyPr/>
                    <a:lstStyle/>
                    <a:p>
                      <a:pPr marL="0" marR="0" algn="ctr">
                        <a:lnSpc>
                          <a:spcPct val="115000"/>
                        </a:lnSpc>
                        <a:spcAft>
                          <a:spcPts val="800"/>
                        </a:spcAft>
                        <a:buNone/>
                      </a:pPr>
                      <a:r>
                        <a:rPr lang="en-US" sz="1400" kern="100" dirty="0">
                          <a:effectLst/>
                        </a:rPr>
                        <a:t>Sequence Length (p)</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Minimal input sequence length</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dirty="0">
                          <a:effectLst/>
                        </a:rPr>
                        <a:t>100, 500, 1000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1220812"/>
                  </a:ext>
                </a:extLst>
              </a:tr>
              <a:tr h="301007">
                <a:tc>
                  <a:txBody>
                    <a:bodyPr/>
                    <a:lstStyle/>
                    <a:p>
                      <a:pPr marL="0" marR="0" algn="ctr">
                        <a:lnSpc>
                          <a:spcPct val="115000"/>
                        </a:lnSpc>
                        <a:spcAft>
                          <a:spcPts val="800"/>
                        </a:spcAft>
                        <a:buNone/>
                      </a:pPr>
                      <a:r>
                        <a:rPr lang="en-US" sz="1400" kern="100">
                          <a:effectLst/>
                        </a:rPr>
                        <a:t>Time Lag (N)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Minimal steps between relevant input and target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40, 50, 100, 250, 500</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25960919"/>
                  </a:ext>
                </a:extLst>
              </a:tr>
              <a:tr h="301007">
                <a:tc>
                  <a:txBody>
                    <a:bodyPr/>
                    <a:lstStyle/>
                    <a:p>
                      <a:pPr marL="0" marR="0" algn="ctr">
                        <a:lnSpc>
                          <a:spcPct val="115000"/>
                        </a:lnSpc>
                        <a:spcAft>
                          <a:spcPts val="800"/>
                        </a:spcAft>
                        <a:buNone/>
                      </a:pPr>
                      <a:r>
                        <a:rPr lang="en-US" sz="1400" kern="100">
                          <a:effectLst/>
                        </a:rPr>
                        <a:t># Cell Blocks (b)</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Number of memory cell blocks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dirty="0">
                          <a:effectLst/>
                        </a:rPr>
                        <a:t>2 or 3</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17267262"/>
                  </a:ext>
                </a:extLst>
              </a:tr>
              <a:tr h="301007">
                <a:tc>
                  <a:txBody>
                    <a:bodyPr/>
                    <a:lstStyle/>
                    <a:p>
                      <a:pPr marL="0" marR="0" algn="ctr">
                        <a:lnSpc>
                          <a:spcPct val="115000"/>
                        </a:lnSpc>
                        <a:spcAft>
                          <a:spcPts val="800"/>
                        </a:spcAft>
                        <a:buNone/>
                      </a:pPr>
                      <a:r>
                        <a:rPr lang="en-US" sz="1400" kern="100">
                          <a:effectLst/>
                        </a:rPr>
                        <a:t>Block Size (s)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Units per cell block</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1, 2, 8</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60814860"/>
                  </a:ext>
                </a:extLst>
              </a:tr>
              <a:tr h="301007">
                <a:tc>
                  <a:txBody>
                    <a:bodyPr/>
                    <a:lstStyle/>
                    <a:p>
                      <a:pPr marL="0" marR="0" algn="ctr">
                        <a:lnSpc>
                          <a:spcPct val="115000"/>
                        </a:lnSpc>
                        <a:spcAft>
                          <a:spcPts val="800"/>
                        </a:spcAft>
                        <a:buNone/>
                      </a:pPr>
                      <a:r>
                        <a:rPr lang="en-US" sz="1400" kern="100">
                          <a:effectLst/>
                        </a:rPr>
                        <a:t># Input Units (in)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Dimensionality of input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1, 2, 8</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88807911"/>
                  </a:ext>
                </a:extLst>
              </a:tr>
              <a:tr h="301007">
                <a:tc>
                  <a:txBody>
                    <a:bodyPr/>
                    <a:lstStyle/>
                    <a:p>
                      <a:pPr marL="0" marR="0" algn="ctr">
                        <a:lnSpc>
                          <a:spcPct val="115000"/>
                        </a:lnSpc>
                        <a:spcAft>
                          <a:spcPts val="800"/>
                        </a:spcAft>
                        <a:buNone/>
                      </a:pPr>
                      <a:r>
                        <a:rPr lang="en-US" sz="1400" kern="100">
                          <a:effectLst/>
                        </a:rPr>
                        <a:t># Output Units (out)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Output dimensions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1 or 4</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43372850"/>
                  </a:ext>
                </a:extLst>
              </a:tr>
              <a:tr h="301007">
                <a:tc>
                  <a:txBody>
                    <a:bodyPr/>
                    <a:lstStyle/>
                    <a:p>
                      <a:pPr marL="0" marR="0" algn="ctr">
                        <a:lnSpc>
                          <a:spcPct val="115000"/>
                        </a:lnSpc>
                        <a:spcAft>
                          <a:spcPts val="800"/>
                        </a:spcAft>
                        <a:buNone/>
                      </a:pPr>
                      <a:r>
                        <a:rPr lang="en-US" sz="1400" kern="100">
                          <a:effectLst/>
                        </a:rPr>
                        <a:t># Weights (w)</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Total trainable parameters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93, 102, 156, 308</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60689166"/>
                  </a:ext>
                </a:extLst>
              </a:tr>
              <a:tr h="301007">
                <a:tc>
                  <a:txBody>
                    <a:bodyPr/>
                    <a:lstStyle/>
                    <a:p>
                      <a:pPr marL="0" marR="0" algn="ctr">
                        <a:lnSpc>
                          <a:spcPct val="115000"/>
                        </a:lnSpc>
                        <a:spcAft>
                          <a:spcPts val="800"/>
                        </a:spcAft>
                        <a:buNone/>
                      </a:pPr>
                      <a:r>
                        <a:rPr lang="en-US" sz="1400" kern="100">
                          <a:effectLst/>
                        </a:rPr>
                        <a:t>Connectivity (c)</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dirty="0">
                          <a:effectLst/>
                        </a:rPr>
                        <a:t>Network connectivity type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F → Full recurrent within hidden layer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6448887"/>
                  </a:ext>
                </a:extLst>
              </a:tr>
              <a:tr h="301007">
                <a:tc>
                  <a:txBody>
                    <a:bodyPr/>
                    <a:lstStyle/>
                    <a:p>
                      <a:pPr marL="0" marR="0" algn="ctr">
                        <a:lnSpc>
                          <a:spcPct val="115000"/>
                        </a:lnSpc>
                        <a:spcAft>
                          <a:spcPts val="800"/>
                        </a:spcAft>
                        <a:buNone/>
                      </a:pPr>
                      <a:r>
                        <a:rPr lang="en-US" sz="1400" kern="100">
                          <a:effectLst/>
                        </a:rPr>
                        <a:t>Output Gate Bias (ogb)</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Initialization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Values like -2, -4, -6 or random (r)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90296592"/>
                  </a:ext>
                </a:extLst>
              </a:tr>
              <a:tr h="301007">
                <a:tc>
                  <a:txBody>
                    <a:bodyPr/>
                    <a:lstStyle/>
                    <a:p>
                      <a:pPr marL="0" marR="0" algn="ctr">
                        <a:lnSpc>
                          <a:spcPct val="115000"/>
                        </a:lnSpc>
                        <a:spcAft>
                          <a:spcPts val="800"/>
                        </a:spcAft>
                        <a:buNone/>
                      </a:pPr>
                      <a:r>
                        <a:rPr lang="en-US" sz="1400" kern="100">
                          <a:effectLst/>
                        </a:rPr>
                        <a:t>Input Gate Bias (igb)</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Initialization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Values like -1, -3, -5 or random (r)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27639926"/>
                  </a:ext>
                </a:extLst>
              </a:tr>
              <a:tr h="301007">
                <a:tc>
                  <a:txBody>
                    <a:bodyPr/>
                    <a:lstStyle/>
                    <a:p>
                      <a:pPr marL="0" marR="0" algn="ctr">
                        <a:lnSpc>
                          <a:spcPct val="115000"/>
                        </a:lnSpc>
                        <a:spcAft>
                          <a:spcPts val="800"/>
                        </a:spcAft>
                        <a:buNone/>
                      </a:pPr>
                      <a:r>
                        <a:rPr lang="en-US" sz="1400" kern="100">
                          <a:effectLst/>
                        </a:rPr>
                        <a:t>Bias Assignment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Which units receive biases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b1 → all hidden units, "all" → all non-input units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1555811"/>
                  </a:ext>
                </a:extLst>
              </a:tr>
              <a:tr h="301007">
                <a:tc>
                  <a:txBody>
                    <a:bodyPr/>
                    <a:lstStyle/>
                    <a:p>
                      <a:pPr marL="0" marR="0" algn="ctr">
                        <a:lnSpc>
                          <a:spcPct val="115000"/>
                        </a:lnSpc>
                        <a:spcAft>
                          <a:spcPts val="800"/>
                        </a:spcAft>
                        <a:buNone/>
                      </a:pPr>
                      <a:r>
                        <a:rPr lang="en-US" sz="1400" kern="100">
                          <a:effectLst/>
                        </a:rPr>
                        <a:t>Activation h</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Cell activation function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h1 → logistic [-2,2]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8811764"/>
                  </a:ext>
                </a:extLst>
              </a:tr>
              <a:tr h="301007">
                <a:tc>
                  <a:txBody>
                    <a:bodyPr/>
                    <a:lstStyle/>
                    <a:p>
                      <a:pPr marL="0" marR="0" algn="ctr">
                        <a:lnSpc>
                          <a:spcPct val="115000"/>
                        </a:lnSpc>
                        <a:spcAft>
                          <a:spcPts val="800"/>
                        </a:spcAft>
                        <a:buNone/>
                      </a:pPr>
                      <a:r>
                        <a:rPr lang="en-US" sz="1400" kern="100">
                          <a:effectLst/>
                        </a:rPr>
                        <a:t>Gate Activation g</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Gate activation function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g2 → logistic [-1,1]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55258317"/>
                  </a:ext>
                </a:extLst>
              </a:tr>
              <a:tr h="301007">
                <a:tc>
                  <a:txBody>
                    <a:bodyPr/>
                    <a:lstStyle/>
                    <a:p>
                      <a:pPr marL="0" marR="0" algn="ctr">
                        <a:lnSpc>
                          <a:spcPct val="115000"/>
                        </a:lnSpc>
                        <a:spcAft>
                          <a:spcPts val="800"/>
                        </a:spcAft>
                        <a:buNone/>
                      </a:pPr>
                      <a:r>
                        <a:rPr lang="en-US" sz="1400" kern="100" dirty="0">
                          <a:effectLst/>
                        </a:rPr>
                        <a:t>Learning Rate (η)</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a:effectLst/>
                        </a:rPr>
                        <a:t>Gradient update scale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400" kern="100" dirty="0">
                          <a:effectLst/>
                        </a:rPr>
                        <a:t>1.0, 0.5, 0.1</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853282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A93BD10-F326-7C6D-1DE2-84396A5A176B}"/>
              </a:ext>
            </a:extLst>
          </p:cNvPr>
          <p:cNvGraphicFramePr>
            <a:graphicFrameLocks noGrp="1"/>
          </p:cNvGraphicFramePr>
          <p:nvPr>
            <p:extLst>
              <p:ext uri="{D42A27DB-BD31-4B8C-83A1-F6EECF244321}">
                <p14:modId xmlns:p14="http://schemas.microsoft.com/office/powerpoint/2010/main" val="1060680384"/>
              </p:ext>
            </p:extLst>
          </p:nvPr>
        </p:nvGraphicFramePr>
        <p:xfrm>
          <a:off x="0" y="0"/>
          <a:ext cx="12338956" cy="6176958"/>
        </p:xfrm>
        <a:graphic>
          <a:graphicData uri="http://schemas.openxmlformats.org/drawingml/2006/table">
            <a:tbl>
              <a:tblPr/>
              <a:tblGrid>
                <a:gridCol w="3084739">
                  <a:extLst>
                    <a:ext uri="{9D8B030D-6E8A-4147-A177-3AD203B41FA5}">
                      <a16:colId xmlns:a16="http://schemas.microsoft.com/office/drawing/2014/main" val="3642993370"/>
                    </a:ext>
                  </a:extLst>
                </a:gridCol>
                <a:gridCol w="3084739">
                  <a:extLst>
                    <a:ext uri="{9D8B030D-6E8A-4147-A177-3AD203B41FA5}">
                      <a16:colId xmlns:a16="http://schemas.microsoft.com/office/drawing/2014/main" val="3244619014"/>
                    </a:ext>
                  </a:extLst>
                </a:gridCol>
                <a:gridCol w="3084739">
                  <a:extLst>
                    <a:ext uri="{9D8B030D-6E8A-4147-A177-3AD203B41FA5}">
                      <a16:colId xmlns:a16="http://schemas.microsoft.com/office/drawing/2014/main" val="3188388937"/>
                    </a:ext>
                  </a:extLst>
                </a:gridCol>
                <a:gridCol w="3084739">
                  <a:extLst>
                    <a:ext uri="{9D8B030D-6E8A-4147-A177-3AD203B41FA5}">
                      <a16:colId xmlns:a16="http://schemas.microsoft.com/office/drawing/2014/main" val="684360198"/>
                    </a:ext>
                  </a:extLst>
                </a:gridCol>
              </a:tblGrid>
              <a:tr h="291366">
                <a:tc>
                  <a:txBody>
                    <a:bodyPr/>
                    <a:lstStyle/>
                    <a:p>
                      <a:pPr>
                        <a:buNone/>
                      </a:pPr>
                      <a:r>
                        <a:rPr lang="en-US" sz="1200" b="1">
                          <a:latin typeface="Times New Roman" panose="02020603050405020304" pitchFamily="18" charset="0"/>
                          <a:cs typeface="Times New Roman" panose="02020603050405020304" pitchFamily="18" charset="0"/>
                        </a:rPr>
                        <a:t>Hyperparameter</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b="1">
                          <a:latin typeface="Times New Roman" panose="02020603050405020304" pitchFamily="18" charset="0"/>
                          <a:cs typeface="Times New Roman" panose="02020603050405020304" pitchFamily="18" charset="0"/>
                        </a:rPr>
                        <a:t>Description</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b="1">
                          <a:latin typeface="Times New Roman" panose="02020603050405020304" pitchFamily="18" charset="0"/>
                          <a:cs typeface="Times New Roman" panose="02020603050405020304" pitchFamily="18" charset="0"/>
                        </a:rPr>
                        <a:t>TLC Trip Data</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b="1">
                          <a:latin typeface="Times New Roman" panose="02020603050405020304" pitchFamily="18" charset="0"/>
                          <a:cs typeface="Times New Roman" panose="02020603050405020304" pitchFamily="18" charset="0"/>
                        </a:rPr>
                        <a:t>Uber Movement Data</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extLst>
                  <a:ext uri="{0D108BD9-81ED-4DB2-BD59-A6C34878D82A}">
                    <a16:rowId xmlns:a16="http://schemas.microsoft.com/office/drawing/2014/main" val="1867251543"/>
                  </a:ext>
                </a:extLst>
              </a:tr>
              <a:tr h="699278">
                <a:tc>
                  <a:txBody>
                    <a:bodyPr/>
                    <a:lstStyle/>
                    <a:p>
                      <a:pPr>
                        <a:buNone/>
                      </a:pPr>
                      <a:r>
                        <a:rPr lang="en-US" sz="1200" b="1">
                          <a:latin typeface="Times New Roman" panose="02020603050405020304" pitchFamily="18" charset="0"/>
                          <a:cs typeface="Times New Roman" panose="02020603050405020304" pitchFamily="18" charset="0"/>
                        </a:rPr>
                        <a:t>Input Features (D)</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No. of features per time step</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Pickup zone, drop zone, trip distance, duration, fare, congestion fee, time features</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Road segment ID, avg speed, travel time, time-of-day</a:t>
                      </a:r>
                    </a:p>
                  </a:txBody>
                  <a:tcPr marL="61576" marR="61576" marT="30788" marB="30788" anchor="ctr">
                    <a:lnL>
                      <a:noFill/>
                    </a:lnL>
                    <a:lnR>
                      <a:noFill/>
                    </a:lnR>
                    <a:lnT>
                      <a:noFill/>
                    </a:lnT>
                    <a:lnB>
                      <a:noFill/>
                    </a:lnB>
                    <a:noFill/>
                  </a:tcPr>
                </a:tc>
                <a:extLst>
                  <a:ext uri="{0D108BD9-81ED-4DB2-BD59-A6C34878D82A}">
                    <a16:rowId xmlns:a16="http://schemas.microsoft.com/office/drawing/2014/main" val="680638187"/>
                  </a:ext>
                </a:extLst>
              </a:tr>
              <a:tr h="495322">
                <a:tc>
                  <a:txBody>
                    <a:bodyPr/>
                    <a:lstStyle/>
                    <a:p>
                      <a:pPr>
                        <a:buNone/>
                      </a:pPr>
                      <a:r>
                        <a:rPr lang="en-US" sz="1200" b="1">
                          <a:latin typeface="Times New Roman" panose="02020603050405020304" pitchFamily="18" charset="0"/>
                          <a:cs typeface="Times New Roman" panose="02020603050405020304" pitchFamily="18" charset="0"/>
                        </a:rPr>
                        <a:t>Sequence Length (T)</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Past time steps used for prediction</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24, 48, 60 (hourly / daily patterns)</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12, 24 (short-term traffic trends)</a:t>
                      </a:r>
                    </a:p>
                  </a:txBody>
                  <a:tcPr marL="61576" marR="61576" marT="30788" marB="30788" anchor="ctr">
                    <a:lnL>
                      <a:noFill/>
                    </a:lnL>
                    <a:lnR>
                      <a:noFill/>
                    </a:lnR>
                    <a:lnT>
                      <a:noFill/>
                    </a:lnT>
                    <a:lnB>
                      <a:noFill/>
                    </a:lnB>
                    <a:noFill/>
                  </a:tcPr>
                </a:tc>
                <a:extLst>
                  <a:ext uri="{0D108BD9-81ED-4DB2-BD59-A6C34878D82A}">
                    <a16:rowId xmlns:a16="http://schemas.microsoft.com/office/drawing/2014/main" val="3063914462"/>
                  </a:ext>
                </a:extLst>
              </a:tr>
              <a:tr h="495322">
                <a:tc>
                  <a:txBody>
                    <a:bodyPr/>
                    <a:lstStyle/>
                    <a:p>
                      <a:pPr>
                        <a:buNone/>
                      </a:pPr>
                      <a:r>
                        <a:rPr lang="en-US" sz="1200" b="1">
                          <a:latin typeface="Times New Roman" panose="02020603050405020304" pitchFamily="18" charset="0"/>
                          <a:cs typeface="Times New Roman" panose="02020603050405020304" pitchFamily="18" charset="0"/>
                        </a:rPr>
                        <a:t>LSTM Layers</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Number of stacked LSTM layers</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1 – 2</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1</a:t>
                      </a:r>
                    </a:p>
                  </a:txBody>
                  <a:tcPr marL="61576" marR="61576" marT="30788" marB="30788" anchor="ctr">
                    <a:lnL>
                      <a:noFill/>
                    </a:lnL>
                    <a:lnR>
                      <a:noFill/>
                    </a:lnR>
                    <a:lnT>
                      <a:noFill/>
                    </a:lnT>
                    <a:lnB>
                      <a:noFill/>
                    </a:lnB>
                    <a:noFill/>
                  </a:tcPr>
                </a:tc>
                <a:extLst>
                  <a:ext uri="{0D108BD9-81ED-4DB2-BD59-A6C34878D82A}">
                    <a16:rowId xmlns:a16="http://schemas.microsoft.com/office/drawing/2014/main" val="1104668344"/>
                  </a:ext>
                </a:extLst>
              </a:tr>
              <a:tr h="291366">
                <a:tc>
                  <a:txBody>
                    <a:bodyPr/>
                    <a:lstStyle/>
                    <a:p>
                      <a:pPr>
                        <a:buNone/>
                      </a:pPr>
                      <a:r>
                        <a:rPr lang="en-US" sz="1200" b="1">
                          <a:latin typeface="Times New Roman" panose="02020603050405020304" pitchFamily="18" charset="0"/>
                          <a:cs typeface="Times New Roman" panose="02020603050405020304" pitchFamily="18" charset="0"/>
                        </a:rPr>
                        <a:t>Hidden Units (H)</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Memory cells per layer</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64, 128</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32, 64</a:t>
                      </a:r>
                    </a:p>
                  </a:txBody>
                  <a:tcPr marL="61576" marR="61576" marT="30788" marB="30788" anchor="ctr">
                    <a:lnL>
                      <a:noFill/>
                    </a:lnL>
                    <a:lnR>
                      <a:noFill/>
                    </a:lnR>
                    <a:lnT>
                      <a:noFill/>
                    </a:lnT>
                    <a:lnB>
                      <a:noFill/>
                    </a:lnB>
                    <a:noFill/>
                  </a:tcPr>
                </a:tc>
                <a:extLst>
                  <a:ext uri="{0D108BD9-81ED-4DB2-BD59-A6C34878D82A}">
                    <a16:rowId xmlns:a16="http://schemas.microsoft.com/office/drawing/2014/main" val="1049658248"/>
                  </a:ext>
                </a:extLst>
              </a:tr>
              <a:tr h="291366">
                <a:tc>
                  <a:txBody>
                    <a:bodyPr/>
                    <a:lstStyle/>
                    <a:p>
                      <a:pPr>
                        <a:buNone/>
                      </a:pPr>
                      <a:r>
                        <a:rPr lang="en-US" sz="1200" b="1">
                          <a:latin typeface="Times New Roman" panose="02020603050405020304" pitchFamily="18" charset="0"/>
                          <a:cs typeface="Times New Roman" panose="02020603050405020304" pitchFamily="18" charset="0"/>
                        </a:rPr>
                        <a:t>Activation Function</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Cell activation</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tanh</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tanh</a:t>
                      </a:r>
                    </a:p>
                  </a:txBody>
                  <a:tcPr marL="61576" marR="61576" marT="30788" marB="30788" anchor="ctr">
                    <a:lnL>
                      <a:noFill/>
                    </a:lnL>
                    <a:lnR>
                      <a:noFill/>
                    </a:lnR>
                    <a:lnT>
                      <a:noFill/>
                    </a:lnT>
                    <a:lnB>
                      <a:noFill/>
                    </a:lnB>
                    <a:noFill/>
                  </a:tcPr>
                </a:tc>
                <a:extLst>
                  <a:ext uri="{0D108BD9-81ED-4DB2-BD59-A6C34878D82A}">
                    <a16:rowId xmlns:a16="http://schemas.microsoft.com/office/drawing/2014/main" val="964043763"/>
                  </a:ext>
                </a:extLst>
              </a:tr>
              <a:tr h="495322">
                <a:tc>
                  <a:txBody>
                    <a:bodyPr/>
                    <a:lstStyle/>
                    <a:p>
                      <a:pPr>
                        <a:buNone/>
                      </a:pPr>
                      <a:r>
                        <a:rPr lang="en-US" sz="1200" b="1">
                          <a:latin typeface="Times New Roman" panose="02020603050405020304" pitchFamily="18" charset="0"/>
                          <a:cs typeface="Times New Roman" panose="02020603050405020304" pitchFamily="18" charset="0"/>
                        </a:rPr>
                        <a:t>Gate Activation</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Input/forget/output gate activation</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sigmoid</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sigmoid</a:t>
                      </a:r>
                    </a:p>
                  </a:txBody>
                  <a:tcPr marL="61576" marR="61576" marT="30788" marB="30788" anchor="ctr">
                    <a:lnL>
                      <a:noFill/>
                    </a:lnL>
                    <a:lnR>
                      <a:noFill/>
                    </a:lnR>
                    <a:lnT>
                      <a:noFill/>
                    </a:lnT>
                    <a:lnB>
                      <a:noFill/>
                    </a:lnB>
                    <a:noFill/>
                  </a:tcPr>
                </a:tc>
                <a:extLst>
                  <a:ext uri="{0D108BD9-81ED-4DB2-BD59-A6C34878D82A}">
                    <a16:rowId xmlns:a16="http://schemas.microsoft.com/office/drawing/2014/main" val="1629273413"/>
                  </a:ext>
                </a:extLst>
              </a:tr>
              <a:tr h="291366">
                <a:tc>
                  <a:txBody>
                    <a:bodyPr/>
                    <a:lstStyle/>
                    <a:p>
                      <a:pPr>
                        <a:buNone/>
                      </a:pPr>
                      <a:r>
                        <a:rPr lang="en-US" sz="1200" b="1">
                          <a:latin typeface="Times New Roman" panose="02020603050405020304" pitchFamily="18" charset="0"/>
                          <a:cs typeface="Times New Roman" panose="02020603050405020304" pitchFamily="18" charset="0"/>
                        </a:rPr>
                        <a:t>Dropout Rate</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Prevents overfitting</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0.2 – 0.4</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0.1 – 0.3</a:t>
                      </a:r>
                    </a:p>
                  </a:txBody>
                  <a:tcPr marL="61576" marR="61576" marT="30788" marB="30788" anchor="ctr">
                    <a:lnL>
                      <a:noFill/>
                    </a:lnL>
                    <a:lnR>
                      <a:noFill/>
                    </a:lnR>
                    <a:lnT>
                      <a:noFill/>
                    </a:lnT>
                    <a:lnB>
                      <a:noFill/>
                    </a:lnB>
                    <a:noFill/>
                  </a:tcPr>
                </a:tc>
                <a:extLst>
                  <a:ext uri="{0D108BD9-81ED-4DB2-BD59-A6C34878D82A}">
                    <a16:rowId xmlns:a16="http://schemas.microsoft.com/office/drawing/2014/main" val="844547948"/>
                  </a:ext>
                </a:extLst>
              </a:tr>
              <a:tr h="291366">
                <a:tc>
                  <a:txBody>
                    <a:bodyPr/>
                    <a:lstStyle/>
                    <a:p>
                      <a:pPr>
                        <a:buNone/>
                      </a:pPr>
                      <a:r>
                        <a:rPr lang="en-US" sz="1200" b="1">
                          <a:latin typeface="Times New Roman" panose="02020603050405020304" pitchFamily="18" charset="0"/>
                          <a:cs typeface="Times New Roman" panose="02020603050405020304" pitchFamily="18" charset="0"/>
                        </a:rPr>
                        <a:t>Recurrent Dropout</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Dropout on recurrent state</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0.1 – 0.3</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0.1 – 0.2</a:t>
                      </a:r>
                    </a:p>
                  </a:txBody>
                  <a:tcPr marL="61576" marR="61576" marT="30788" marB="30788" anchor="ctr">
                    <a:lnL>
                      <a:noFill/>
                    </a:lnL>
                    <a:lnR>
                      <a:noFill/>
                    </a:lnR>
                    <a:lnT>
                      <a:noFill/>
                    </a:lnT>
                    <a:lnB>
                      <a:noFill/>
                    </a:lnB>
                    <a:noFill/>
                  </a:tcPr>
                </a:tc>
                <a:extLst>
                  <a:ext uri="{0D108BD9-81ED-4DB2-BD59-A6C34878D82A}">
                    <a16:rowId xmlns:a16="http://schemas.microsoft.com/office/drawing/2014/main" val="3490672863"/>
                  </a:ext>
                </a:extLst>
              </a:tr>
              <a:tr h="291366">
                <a:tc>
                  <a:txBody>
                    <a:bodyPr/>
                    <a:lstStyle/>
                    <a:p>
                      <a:pPr>
                        <a:buNone/>
                      </a:pPr>
                      <a:r>
                        <a:rPr lang="en-US" sz="1200" b="1">
                          <a:latin typeface="Times New Roman" panose="02020603050405020304" pitchFamily="18" charset="0"/>
                          <a:cs typeface="Times New Roman" panose="02020603050405020304" pitchFamily="18" charset="0"/>
                        </a:rPr>
                        <a:t>Optimizer</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Weight update method</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Adam</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Adam</a:t>
                      </a:r>
                    </a:p>
                  </a:txBody>
                  <a:tcPr marL="61576" marR="61576" marT="30788" marB="30788" anchor="ctr">
                    <a:lnL>
                      <a:noFill/>
                    </a:lnL>
                    <a:lnR>
                      <a:noFill/>
                    </a:lnR>
                    <a:lnT>
                      <a:noFill/>
                    </a:lnT>
                    <a:lnB>
                      <a:noFill/>
                    </a:lnB>
                    <a:noFill/>
                  </a:tcPr>
                </a:tc>
                <a:extLst>
                  <a:ext uri="{0D108BD9-81ED-4DB2-BD59-A6C34878D82A}">
                    <a16:rowId xmlns:a16="http://schemas.microsoft.com/office/drawing/2014/main" val="1114394004"/>
                  </a:ext>
                </a:extLst>
              </a:tr>
              <a:tr h="291366">
                <a:tc>
                  <a:txBody>
                    <a:bodyPr/>
                    <a:lstStyle/>
                    <a:p>
                      <a:pPr>
                        <a:buNone/>
                      </a:pPr>
                      <a:r>
                        <a:rPr lang="en-US" sz="1200" b="1">
                          <a:latin typeface="Times New Roman" panose="02020603050405020304" pitchFamily="18" charset="0"/>
                          <a:cs typeface="Times New Roman" panose="02020603050405020304" pitchFamily="18" charset="0"/>
                        </a:rPr>
                        <a:t>Learning Rate (</a:t>
                      </a:r>
                      <a:r>
                        <a:rPr lang="el-GR" sz="1200" b="1">
                          <a:latin typeface="Times New Roman" panose="02020603050405020304" pitchFamily="18" charset="0"/>
                          <a:cs typeface="Times New Roman" panose="02020603050405020304" pitchFamily="18" charset="0"/>
                        </a:rPr>
                        <a:t>η)</a:t>
                      </a:r>
                      <a:endParaRPr lang="el-GR"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Step size</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0.001</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0.001</a:t>
                      </a:r>
                    </a:p>
                  </a:txBody>
                  <a:tcPr marL="61576" marR="61576" marT="30788" marB="30788" anchor="ctr">
                    <a:lnL>
                      <a:noFill/>
                    </a:lnL>
                    <a:lnR>
                      <a:noFill/>
                    </a:lnR>
                    <a:lnT>
                      <a:noFill/>
                    </a:lnT>
                    <a:lnB>
                      <a:noFill/>
                    </a:lnB>
                    <a:noFill/>
                  </a:tcPr>
                </a:tc>
                <a:extLst>
                  <a:ext uri="{0D108BD9-81ED-4DB2-BD59-A6C34878D82A}">
                    <a16:rowId xmlns:a16="http://schemas.microsoft.com/office/drawing/2014/main" val="3770078390"/>
                  </a:ext>
                </a:extLst>
              </a:tr>
              <a:tr h="291366">
                <a:tc>
                  <a:txBody>
                    <a:bodyPr/>
                    <a:lstStyle/>
                    <a:p>
                      <a:pPr>
                        <a:buNone/>
                      </a:pPr>
                      <a:r>
                        <a:rPr lang="en-US" sz="1200" b="1">
                          <a:latin typeface="Times New Roman" panose="02020603050405020304" pitchFamily="18" charset="0"/>
                          <a:cs typeface="Times New Roman" panose="02020603050405020304" pitchFamily="18" charset="0"/>
                        </a:rPr>
                        <a:t>Loss Function</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Error metric</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MSE / MAE</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MSE</a:t>
                      </a:r>
                    </a:p>
                  </a:txBody>
                  <a:tcPr marL="61576" marR="61576" marT="30788" marB="30788" anchor="ctr">
                    <a:lnL>
                      <a:noFill/>
                    </a:lnL>
                    <a:lnR>
                      <a:noFill/>
                    </a:lnR>
                    <a:lnT>
                      <a:noFill/>
                    </a:lnT>
                    <a:lnB>
                      <a:noFill/>
                    </a:lnB>
                    <a:noFill/>
                  </a:tcPr>
                </a:tc>
                <a:extLst>
                  <a:ext uri="{0D108BD9-81ED-4DB2-BD59-A6C34878D82A}">
                    <a16:rowId xmlns:a16="http://schemas.microsoft.com/office/drawing/2014/main" val="2273864337"/>
                  </a:ext>
                </a:extLst>
              </a:tr>
              <a:tr h="291366">
                <a:tc>
                  <a:txBody>
                    <a:bodyPr/>
                    <a:lstStyle/>
                    <a:p>
                      <a:pPr>
                        <a:buNone/>
                      </a:pPr>
                      <a:r>
                        <a:rPr lang="en-US" sz="1200" b="1">
                          <a:latin typeface="Times New Roman" panose="02020603050405020304" pitchFamily="18" charset="0"/>
                          <a:cs typeface="Times New Roman" panose="02020603050405020304" pitchFamily="18" charset="0"/>
                        </a:rPr>
                        <a:t>Batch Size</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Sequences per batch</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32, 64</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32</a:t>
                      </a:r>
                    </a:p>
                  </a:txBody>
                  <a:tcPr marL="61576" marR="61576" marT="30788" marB="30788" anchor="ctr">
                    <a:lnL>
                      <a:noFill/>
                    </a:lnL>
                    <a:lnR>
                      <a:noFill/>
                    </a:lnR>
                    <a:lnT>
                      <a:noFill/>
                    </a:lnT>
                    <a:lnB>
                      <a:noFill/>
                    </a:lnB>
                    <a:noFill/>
                  </a:tcPr>
                </a:tc>
                <a:extLst>
                  <a:ext uri="{0D108BD9-81ED-4DB2-BD59-A6C34878D82A}">
                    <a16:rowId xmlns:a16="http://schemas.microsoft.com/office/drawing/2014/main" val="525579904"/>
                  </a:ext>
                </a:extLst>
              </a:tr>
              <a:tr h="291366">
                <a:tc>
                  <a:txBody>
                    <a:bodyPr/>
                    <a:lstStyle/>
                    <a:p>
                      <a:pPr>
                        <a:buNone/>
                      </a:pPr>
                      <a:r>
                        <a:rPr lang="en-US" sz="1200" b="1">
                          <a:latin typeface="Times New Roman" panose="02020603050405020304" pitchFamily="18" charset="0"/>
                          <a:cs typeface="Times New Roman" panose="02020603050405020304" pitchFamily="18" charset="0"/>
                        </a:rPr>
                        <a:t>Epochs</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Training iterations</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30 – 100</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20 – 60</a:t>
                      </a:r>
                    </a:p>
                  </a:txBody>
                  <a:tcPr marL="61576" marR="61576" marT="30788" marB="30788" anchor="ctr">
                    <a:lnL>
                      <a:noFill/>
                    </a:lnL>
                    <a:lnR>
                      <a:noFill/>
                    </a:lnR>
                    <a:lnT>
                      <a:noFill/>
                    </a:lnT>
                    <a:lnB>
                      <a:noFill/>
                    </a:lnB>
                    <a:noFill/>
                  </a:tcPr>
                </a:tc>
                <a:extLst>
                  <a:ext uri="{0D108BD9-81ED-4DB2-BD59-A6C34878D82A}">
                    <a16:rowId xmlns:a16="http://schemas.microsoft.com/office/drawing/2014/main" val="1232360835"/>
                  </a:ext>
                </a:extLst>
              </a:tr>
              <a:tr h="291366">
                <a:tc>
                  <a:txBody>
                    <a:bodyPr/>
                    <a:lstStyle/>
                    <a:p>
                      <a:pPr>
                        <a:buNone/>
                      </a:pPr>
                      <a:r>
                        <a:rPr lang="en-US" sz="1200" b="1">
                          <a:latin typeface="Times New Roman" panose="02020603050405020304" pitchFamily="18" charset="0"/>
                          <a:cs typeface="Times New Roman" panose="02020603050405020304" pitchFamily="18" charset="0"/>
                        </a:rPr>
                        <a:t>Validation Split</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Validation data ratio</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0.2</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0.2</a:t>
                      </a:r>
                    </a:p>
                  </a:txBody>
                  <a:tcPr marL="61576" marR="61576" marT="30788" marB="30788" anchor="ctr">
                    <a:lnL>
                      <a:noFill/>
                    </a:lnL>
                    <a:lnR>
                      <a:noFill/>
                    </a:lnR>
                    <a:lnT>
                      <a:noFill/>
                    </a:lnT>
                    <a:lnB>
                      <a:noFill/>
                    </a:lnB>
                    <a:noFill/>
                  </a:tcPr>
                </a:tc>
                <a:extLst>
                  <a:ext uri="{0D108BD9-81ED-4DB2-BD59-A6C34878D82A}">
                    <a16:rowId xmlns:a16="http://schemas.microsoft.com/office/drawing/2014/main" val="3995858122"/>
                  </a:ext>
                </a:extLst>
              </a:tr>
              <a:tr h="495322">
                <a:tc>
                  <a:txBody>
                    <a:bodyPr/>
                    <a:lstStyle/>
                    <a:p>
                      <a:pPr>
                        <a:buNone/>
                      </a:pPr>
                      <a:r>
                        <a:rPr lang="en-US" sz="1200" b="1">
                          <a:latin typeface="Times New Roman" panose="02020603050405020304" pitchFamily="18" charset="0"/>
                          <a:cs typeface="Times New Roman" panose="02020603050405020304" pitchFamily="18" charset="0"/>
                        </a:rPr>
                        <a:t>Output Layer</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Prediction layer</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Dense (1): Demand / Travel Time</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Dense (1): Segment Travel Time</a:t>
                      </a:r>
                    </a:p>
                  </a:txBody>
                  <a:tcPr marL="61576" marR="61576" marT="30788" marB="30788" anchor="ctr">
                    <a:lnL>
                      <a:noFill/>
                    </a:lnL>
                    <a:lnR>
                      <a:noFill/>
                    </a:lnR>
                    <a:lnT>
                      <a:noFill/>
                    </a:lnT>
                    <a:lnB>
                      <a:noFill/>
                    </a:lnB>
                    <a:noFill/>
                  </a:tcPr>
                </a:tc>
                <a:extLst>
                  <a:ext uri="{0D108BD9-81ED-4DB2-BD59-A6C34878D82A}">
                    <a16:rowId xmlns:a16="http://schemas.microsoft.com/office/drawing/2014/main" val="1032775733"/>
                  </a:ext>
                </a:extLst>
              </a:tr>
              <a:tr h="291366">
                <a:tc>
                  <a:txBody>
                    <a:bodyPr/>
                    <a:lstStyle/>
                    <a:p>
                      <a:pPr>
                        <a:buNone/>
                      </a:pPr>
                      <a:r>
                        <a:rPr lang="en-US" sz="1200" b="1">
                          <a:latin typeface="Times New Roman" panose="02020603050405020304" pitchFamily="18" charset="0"/>
                          <a:cs typeface="Times New Roman" panose="02020603050405020304" pitchFamily="18" charset="0"/>
                        </a:rPr>
                        <a:t>Early Stopping</a:t>
                      </a:r>
                      <a:endParaRPr lang="en-US" sz="1200">
                        <a:latin typeface="Times New Roman" panose="02020603050405020304" pitchFamily="18" charset="0"/>
                        <a:cs typeface="Times New Roman" panose="02020603050405020304" pitchFamily="18" charset="0"/>
                      </a:endParaRP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Stops overtraining</a:t>
                      </a:r>
                    </a:p>
                  </a:txBody>
                  <a:tcPr marL="61576" marR="61576" marT="30788" marB="30788"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Enabled</a:t>
                      </a:r>
                    </a:p>
                  </a:txBody>
                  <a:tcPr marL="61576" marR="61576" marT="30788" marB="30788"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Enabled</a:t>
                      </a:r>
                    </a:p>
                  </a:txBody>
                  <a:tcPr marL="61576" marR="61576" marT="30788" marB="30788" anchor="ctr">
                    <a:lnL>
                      <a:noFill/>
                    </a:lnL>
                    <a:lnR>
                      <a:noFill/>
                    </a:lnR>
                    <a:lnT>
                      <a:noFill/>
                    </a:lnT>
                    <a:lnB>
                      <a:noFill/>
                    </a:lnB>
                    <a:noFill/>
                  </a:tcPr>
                </a:tc>
                <a:extLst>
                  <a:ext uri="{0D108BD9-81ED-4DB2-BD59-A6C34878D82A}">
                    <a16:rowId xmlns:a16="http://schemas.microsoft.com/office/drawing/2014/main" val="4209529782"/>
                  </a:ext>
                </a:extLst>
              </a:tr>
            </a:tbl>
          </a:graphicData>
        </a:graphic>
      </p:graphicFrame>
    </p:spTree>
    <p:extLst>
      <p:ext uri="{BB962C8B-B14F-4D97-AF65-F5344CB8AC3E}">
        <p14:creationId xmlns:p14="http://schemas.microsoft.com/office/powerpoint/2010/main" val="163475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54"/>
          <p:cNvSpPr txBox="1">
            <a:spLocks noGrp="1"/>
          </p:cNvSpPr>
          <p:nvPr>
            <p:ph type="title"/>
          </p:nvPr>
        </p:nvSpPr>
        <p:spPr>
          <a:xfrm>
            <a:off x="838200" y="232188"/>
            <a:ext cx="5000400" cy="717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6114D"/>
              </a:buClr>
              <a:buSzPts val="3600"/>
              <a:buFont typeface="Times New Roman"/>
              <a:buNone/>
            </a:pPr>
            <a:r>
              <a:rPr lang="en-IN" sz="3600" b="1">
                <a:solidFill>
                  <a:srgbClr val="B6114D"/>
                </a:solidFill>
                <a:latin typeface="Times New Roman"/>
                <a:ea typeface="Times New Roman"/>
                <a:cs typeface="Times New Roman"/>
                <a:sym typeface="Times New Roman"/>
              </a:rPr>
              <a:t>Hyperparameter Tuning</a:t>
            </a:r>
            <a:endParaRPr/>
          </a:p>
        </p:txBody>
      </p:sp>
      <p:sp>
        <p:nvSpPr>
          <p:cNvPr id="1086" name="Google Shape;1086;p54"/>
          <p:cNvSpPr txBox="1">
            <a:spLocks noGrp="1"/>
          </p:cNvSpPr>
          <p:nvPr>
            <p:ph type="body" idx="1"/>
          </p:nvPr>
        </p:nvSpPr>
        <p:spPr>
          <a:xfrm>
            <a:off x="838200" y="1253400"/>
            <a:ext cx="10515600" cy="4351200"/>
          </a:xfrm>
          <a:prstGeom prst="rect">
            <a:avLst/>
          </a:prstGeom>
          <a:noFill/>
          <a:ln>
            <a:noFill/>
          </a:ln>
        </p:spPr>
        <p:txBody>
          <a:bodyPr spcFirstLastPara="1" wrap="square" lIns="91425" tIns="45700" rIns="91425" bIns="45700" anchor="t" anchorCtr="0">
            <a:noAutofit/>
          </a:bodyPr>
          <a:lstStyle/>
          <a:p>
            <a:pPr marL="50800" indent="0">
              <a:buNone/>
            </a:pPr>
            <a:r>
              <a:rPr lang="en-US" sz="2000" b="1" dirty="0"/>
              <a:t>Learning Rate (0.001) - </a:t>
            </a:r>
            <a:r>
              <a:rPr lang="en-US" sz="2000" dirty="0"/>
              <a:t>This is chosen as a standard and stable starting value for training LSTM models.</a:t>
            </a:r>
          </a:p>
          <a:p>
            <a:pPr marL="50800" indent="0">
              <a:buNone/>
            </a:pPr>
            <a:r>
              <a:rPr lang="en-US" sz="2000" b="1" dirty="0"/>
              <a:t>Batch Size (32) - </a:t>
            </a:r>
            <a:r>
              <a:rPr lang="en-US" sz="2000" dirty="0"/>
              <a:t>A moderate batch size is selected to balance training efficiency and learning stability.</a:t>
            </a:r>
          </a:p>
          <a:p>
            <a:pPr marL="50800" indent="0">
              <a:buNone/>
            </a:pPr>
            <a:r>
              <a:rPr lang="en-US" sz="2000" b="1" dirty="0"/>
              <a:t>Epochs (50) - </a:t>
            </a:r>
            <a:r>
              <a:rPr lang="en-US" sz="2000" dirty="0"/>
              <a:t>The model is trained for a sufficient number of epochs to capture long-term temporal dependencies.</a:t>
            </a:r>
          </a:p>
          <a:p>
            <a:pPr marL="50800" indent="0">
              <a:buNone/>
            </a:pPr>
            <a:r>
              <a:rPr lang="en-US" sz="2000" b="1" dirty="0"/>
              <a:t>Sequence Length (48) - </a:t>
            </a:r>
            <a:r>
              <a:rPr lang="en-US" sz="2000" dirty="0"/>
              <a:t>The number of past time steps used as input to the LSTM.</a:t>
            </a:r>
          </a:p>
          <a:p>
            <a:pPr marL="50800" indent="0">
              <a:buNone/>
            </a:pPr>
            <a:r>
              <a:rPr lang="en-US" sz="2000" b="1" dirty="0"/>
              <a:t>Hidden Units (64) - </a:t>
            </a:r>
            <a:r>
              <a:rPr lang="en-US" sz="2000" dirty="0"/>
              <a:t>Number of memory cells in the LSTM layer.</a:t>
            </a:r>
          </a:p>
          <a:p>
            <a:pPr marL="50800" indent="0">
              <a:buNone/>
            </a:pPr>
            <a:r>
              <a:rPr lang="en-US" sz="2000" b="1" dirty="0"/>
              <a:t>Dropout Rate (0.3) - </a:t>
            </a:r>
            <a:r>
              <a:rPr lang="en-US" sz="2000" dirty="0"/>
              <a:t>Dropout is applied to prevent overfitting.</a:t>
            </a:r>
          </a:p>
          <a:p>
            <a:pPr marL="50800" indent="0">
              <a:buNone/>
            </a:pPr>
            <a:r>
              <a:rPr lang="en-US" sz="2000" b="1" dirty="0"/>
              <a:t>Optimizer (Adam) - </a:t>
            </a:r>
            <a:r>
              <a:rPr lang="en-US" sz="2000" dirty="0"/>
              <a:t>Adam optimizer is used for training the LSTM model.</a:t>
            </a:r>
          </a:p>
          <a:p>
            <a:pPr marL="50800" indent="0">
              <a:buNone/>
            </a:pPr>
            <a:r>
              <a:rPr lang="en-US" sz="2000" b="1" dirty="0"/>
              <a:t>Loss Function (MSE) - </a:t>
            </a:r>
            <a:r>
              <a:rPr lang="en-US" sz="2000" dirty="0"/>
              <a:t>Mean Squared Error is used as the loss function.</a:t>
            </a:r>
          </a:p>
          <a:p>
            <a:pPr marL="50800" indent="0">
              <a:buNone/>
            </a:pPr>
            <a:endParaRPr lang="en-US" sz="2000" dirty="0"/>
          </a:p>
          <a:p>
            <a:pPr marL="50800" indent="0">
              <a:buNone/>
            </a:pPr>
            <a:endParaRPr lang="en-US" sz="2000" dirty="0"/>
          </a:p>
          <a:p>
            <a:pPr marL="228593" lvl="0" indent="-228593" algn="l" rtl="0">
              <a:lnSpc>
                <a:spcPct val="90000"/>
              </a:lnSpc>
              <a:spcBef>
                <a:spcPts val="0"/>
              </a:spcBef>
              <a:spcAft>
                <a:spcPts val="0"/>
              </a:spcAft>
              <a:buClr>
                <a:schemeClr val="dk1"/>
              </a:buClr>
              <a:buSzPts val="1600"/>
              <a:buFont typeface="Arial"/>
              <a:buChar char="•"/>
            </a:pPr>
            <a:endParaRPr sz="2000" dirty="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55"/>
          <p:cNvSpPr txBox="1">
            <a:spLocks noGrp="1"/>
          </p:cNvSpPr>
          <p:nvPr>
            <p:ph type="title"/>
          </p:nvPr>
        </p:nvSpPr>
        <p:spPr>
          <a:xfrm>
            <a:off x="838200" y="293149"/>
            <a:ext cx="2844600" cy="77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Metrics Used</a:t>
            </a:r>
            <a:endParaRPr dirty="0"/>
          </a:p>
        </p:txBody>
      </p:sp>
      <p:sp>
        <p:nvSpPr>
          <p:cNvPr id="1092" name="Google Shape;1092;p55"/>
          <p:cNvSpPr txBox="1">
            <a:spLocks noGrp="1"/>
          </p:cNvSpPr>
          <p:nvPr>
            <p:ph type="body" idx="1"/>
          </p:nvPr>
        </p:nvSpPr>
        <p:spPr>
          <a:xfrm>
            <a:off x="838200" y="1253331"/>
            <a:ext cx="10515600" cy="4351200"/>
          </a:xfrm>
          <a:prstGeom prst="rect">
            <a:avLst/>
          </a:prstGeom>
          <a:noFill/>
          <a:ln>
            <a:noFill/>
          </a:ln>
        </p:spPr>
        <p:txBody>
          <a:bodyPr spcFirstLastPara="1" wrap="square" lIns="91425" tIns="45700" rIns="91425" bIns="45700" anchor="t" anchorCtr="0">
            <a:normAutofit fontScale="92500" lnSpcReduction="20000"/>
          </a:bodyPr>
          <a:lstStyle/>
          <a:p>
            <a:pPr marL="50800" indent="0">
              <a:buNone/>
            </a:pPr>
            <a:r>
              <a:rPr lang="en-US" sz="2000" b="1" dirty="0"/>
              <a:t>Mean Absolute Error (MAE)</a:t>
            </a:r>
          </a:p>
          <a:p>
            <a:r>
              <a:rPr lang="en-US" sz="2000" dirty="0"/>
              <a:t>Measures the average absolute difference between predicted and actual values.</a:t>
            </a:r>
          </a:p>
          <a:p>
            <a:r>
              <a:rPr lang="en-US" sz="2000" b="1" dirty="0"/>
              <a:t>Why?</a:t>
            </a:r>
            <a:br>
              <a:rPr lang="en-US" sz="2000" dirty="0"/>
            </a:br>
            <a:r>
              <a:rPr lang="en-US" sz="2000" dirty="0"/>
              <a:t>MAE provides a clear and interpretable measure of prediction error in real-world units (minutes for travel time, trips for demand), making it easy to understand model performance.</a:t>
            </a:r>
          </a:p>
          <a:p>
            <a:pPr marL="50800" indent="0">
              <a:buNone/>
            </a:pPr>
            <a:r>
              <a:rPr lang="en-US" sz="2000" b="1" dirty="0"/>
              <a:t>Root Mean Squared Error (RMSE)</a:t>
            </a:r>
          </a:p>
          <a:p>
            <a:r>
              <a:rPr lang="en-US" sz="2000" dirty="0"/>
              <a:t>Measures the square root of the average squared prediction error.</a:t>
            </a:r>
          </a:p>
          <a:p>
            <a:r>
              <a:rPr lang="en-US" sz="2000" b="1" dirty="0"/>
              <a:t>Why?</a:t>
            </a:r>
            <a:br>
              <a:rPr lang="en-US" sz="2000" dirty="0"/>
            </a:br>
            <a:r>
              <a:rPr lang="en-US" sz="2000" dirty="0"/>
              <a:t>RMSE penalizes larger errors more heavily, which is important for avoiding significant underestimation or overestimation of travel time and demand during peak hours.</a:t>
            </a:r>
          </a:p>
          <a:p>
            <a:pPr marL="50800" indent="0">
              <a:buNone/>
            </a:pPr>
            <a:r>
              <a:rPr lang="en-US" sz="2000" b="1" dirty="0"/>
              <a:t>Mean Absolute Percentage Error (MAPE)</a:t>
            </a:r>
          </a:p>
          <a:p>
            <a:r>
              <a:rPr lang="en-US" sz="2000" dirty="0"/>
              <a:t>Measures the average percentage error between predicted and actual values.</a:t>
            </a:r>
          </a:p>
          <a:p>
            <a:r>
              <a:rPr lang="en-US" sz="2000" b="1" dirty="0"/>
              <a:t>Why?</a:t>
            </a:r>
            <a:br>
              <a:rPr lang="en-US" sz="2000" dirty="0"/>
            </a:br>
            <a:r>
              <a:rPr lang="en-US" sz="2000" dirty="0"/>
              <a:t>MAPE helps evaluate relative error performance across different traffic and demand scales, especially useful when comparing predictions across zones.</a:t>
            </a:r>
          </a:p>
          <a:p>
            <a:pPr marL="0" lvl="0" indent="0" algn="l" rtl="0">
              <a:lnSpc>
                <a:spcPct val="90000"/>
              </a:lnSpc>
              <a:spcBef>
                <a:spcPts val="1000"/>
              </a:spcBef>
              <a:spcAft>
                <a:spcPts val="0"/>
              </a:spcAft>
              <a:buClr>
                <a:schemeClr val="dk1"/>
              </a:buClr>
              <a:buSzPts val="1600"/>
              <a:buNone/>
            </a:pPr>
            <a:endParaRPr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03263B-7969-8FEF-CD21-AA9887BA1CAF}"/>
              </a:ext>
            </a:extLst>
          </p:cNvPr>
          <p:cNvSpPr>
            <a:spLocks noGrp="1"/>
          </p:cNvSpPr>
          <p:nvPr>
            <p:ph type="body" idx="1"/>
          </p:nvPr>
        </p:nvSpPr>
        <p:spPr>
          <a:xfrm>
            <a:off x="576942" y="503011"/>
            <a:ext cx="10515600" cy="5244646"/>
          </a:xfrm>
        </p:spPr>
        <p:txBody>
          <a:bodyPr>
            <a:normAutofit fontScale="62500" lnSpcReduction="20000"/>
          </a:bodyPr>
          <a:lstStyle/>
          <a:p>
            <a:pPr marL="50800" indent="0">
              <a:buNone/>
            </a:pPr>
            <a:r>
              <a:rPr lang="en-US" b="1" dirty="0"/>
              <a:t>R² Score (Coefficient of Determination)</a:t>
            </a:r>
          </a:p>
          <a:p>
            <a:r>
              <a:rPr lang="en-US" dirty="0"/>
              <a:t>Indicates how well the model explains the variance in the data.</a:t>
            </a:r>
          </a:p>
          <a:p>
            <a:r>
              <a:rPr lang="en-US" b="1" dirty="0"/>
              <a:t>Why?</a:t>
            </a:r>
            <a:br>
              <a:rPr lang="en-US" dirty="0"/>
            </a:br>
            <a:r>
              <a:rPr lang="en-US" dirty="0"/>
              <a:t>A higher R² value indicates that the LSTM model effectively captures temporal patterns in traffic and demand data.</a:t>
            </a:r>
          </a:p>
          <a:p>
            <a:pPr marL="50800" indent="0">
              <a:buNone/>
            </a:pPr>
            <a:r>
              <a:rPr lang="en-US" b="1" dirty="0"/>
              <a:t>Travel Time Reduction (%)</a:t>
            </a:r>
          </a:p>
          <a:p>
            <a:r>
              <a:rPr lang="en-US" dirty="0"/>
              <a:t>Compares baseline travel time with optimized route travel time.</a:t>
            </a:r>
          </a:p>
          <a:p>
            <a:r>
              <a:rPr lang="en-US" b="1" dirty="0"/>
              <a:t>Why?</a:t>
            </a:r>
            <a:br>
              <a:rPr lang="en-US" dirty="0"/>
            </a:br>
            <a:r>
              <a:rPr lang="en-US" dirty="0"/>
              <a:t>This metric directly reflects the effectiveness of route optimization in reducing delivery time.</a:t>
            </a:r>
          </a:p>
          <a:p>
            <a:pPr marL="50800" indent="0">
              <a:buNone/>
            </a:pPr>
            <a:r>
              <a:rPr lang="en-US" b="1" dirty="0"/>
              <a:t>Cost Reduction (%)</a:t>
            </a:r>
          </a:p>
          <a:p>
            <a:r>
              <a:rPr lang="en-US" dirty="0"/>
              <a:t>Measures reduction in operational cost after optimization.</a:t>
            </a:r>
          </a:p>
          <a:p>
            <a:r>
              <a:rPr lang="en-US" b="1" dirty="0"/>
              <a:t>Why?</a:t>
            </a:r>
            <a:br>
              <a:rPr lang="en-US" dirty="0"/>
            </a:br>
            <a:r>
              <a:rPr lang="en-US" dirty="0"/>
              <a:t>Helps quantify economic benefits achieved through improved routing decisions.</a:t>
            </a:r>
          </a:p>
          <a:p>
            <a:pPr marL="50800" indent="0">
              <a:buNone/>
            </a:pPr>
            <a:r>
              <a:rPr lang="en-US" b="1" dirty="0"/>
              <a:t>Carbon Emission Reduction (%)</a:t>
            </a:r>
          </a:p>
          <a:p>
            <a:r>
              <a:rPr lang="en-US" dirty="0"/>
              <a:t>Estimates the reduction in CO₂ emissions after route optimization.</a:t>
            </a:r>
          </a:p>
          <a:p>
            <a:r>
              <a:rPr lang="en-US" b="1" dirty="0"/>
              <a:t>Why?</a:t>
            </a:r>
            <a:br>
              <a:rPr lang="en-US" dirty="0"/>
            </a:br>
            <a:r>
              <a:rPr lang="en-US" dirty="0"/>
              <a:t>This metric evaluates the environmental impact of the proposed approach, aligning with sustainability goals.</a:t>
            </a:r>
          </a:p>
          <a:p>
            <a:endParaRPr lang="en-US" dirty="0"/>
          </a:p>
        </p:txBody>
      </p:sp>
    </p:spTree>
    <p:extLst>
      <p:ext uri="{BB962C8B-B14F-4D97-AF65-F5344CB8AC3E}">
        <p14:creationId xmlns:p14="http://schemas.microsoft.com/office/powerpoint/2010/main" val="151241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56"/>
          <p:cNvSpPr txBox="1">
            <a:spLocks noGrp="1"/>
          </p:cNvSpPr>
          <p:nvPr>
            <p:ph type="title"/>
          </p:nvPr>
        </p:nvSpPr>
        <p:spPr>
          <a:xfrm>
            <a:off x="266700" y="0"/>
            <a:ext cx="6351300" cy="834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600" b="1" dirty="0">
                <a:solidFill>
                  <a:srgbClr val="CC0066"/>
                </a:solidFill>
                <a:latin typeface="Times New Roman"/>
                <a:ea typeface="Times New Roman"/>
                <a:cs typeface="Times New Roman"/>
                <a:sym typeface="Times New Roman"/>
              </a:rPr>
              <a:t>Performance metrics formulae</a:t>
            </a:r>
            <a:endParaRPr dirty="0"/>
          </a:p>
        </p:txBody>
      </p:sp>
      <p:pic>
        <p:nvPicPr>
          <p:cNvPr id="5" name="Picture 4" descr="A black background with white text&#10;&#10;AI-generated content may be incorrect.">
            <a:extLst>
              <a:ext uri="{FF2B5EF4-FFF2-40B4-BE49-F238E27FC236}">
                <a16:creationId xmlns:a16="http://schemas.microsoft.com/office/drawing/2014/main" id="{33EE166B-C4E5-FC5B-E661-2916FA408917}"/>
              </a:ext>
            </a:extLst>
          </p:cNvPr>
          <p:cNvPicPr>
            <a:picLocks noChangeAspect="1"/>
          </p:cNvPicPr>
          <p:nvPr/>
        </p:nvPicPr>
        <p:blipFill>
          <a:blip r:embed="rId3"/>
          <a:stretch>
            <a:fillRect/>
          </a:stretch>
        </p:blipFill>
        <p:spPr>
          <a:xfrm>
            <a:off x="1856050" y="670641"/>
            <a:ext cx="8349307" cy="5403588"/>
          </a:xfrm>
          <a:prstGeom prst="rect">
            <a:avLst/>
          </a:prstGeom>
        </p:spPr>
      </p:pic>
    </p:spTree>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2151</Words>
  <Application>Microsoft Office PowerPoint</Application>
  <PresentationFormat>Widescreen</PresentationFormat>
  <Paragraphs>281</Paragraphs>
  <Slides>19</Slides>
  <Notes>12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19</vt:i4>
      </vt:variant>
    </vt:vector>
  </HeadingPairs>
  <TitlesOfParts>
    <vt:vector size="32" baseType="lpstr">
      <vt:lpstr>Aptos</vt:lpstr>
      <vt:lpstr>Arial</vt:lpstr>
      <vt:lpstr>Avenir</vt:lpstr>
      <vt:lpstr>Calibri</vt:lpstr>
      <vt:lpstr>Garamond</vt:lpstr>
      <vt:lpstr>Noto Sans Symbols</vt:lpstr>
      <vt:lpstr>Poppins</vt:lpstr>
      <vt:lpstr>Times New Roman</vt:lpstr>
      <vt:lpstr>2_Presentation slides</vt:lpstr>
      <vt:lpstr>Presentation slides</vt:lpstr>
      <vt:lpstr>Presentation Cover page</vt:lpstr>
      <vt:lpstr>1_Presentation Cover page</vt:lpstr>
      <vt:lpstr>1_Presentation slides</vt:lpstr>
      <vt:lpstr>Route Optimization &amp; Demand Forecasting</vt:lpstr>
      <vt:lpstr>Agenda</vt:lpstr>
      <vt:lpstr>Introduction</vt:lpstr>
      <vt:lpstr>PowerPoint Presentation</vt:lpstr>
      <vt:lpstr>Architecture &amp; Literature survey</vt:lpstr>
      <vt:lpstr>PowerPoint Presentation</vt:lpstr>
      <vt:lpstr>Features of LSTM</vt:lpstr>
      <vt:lpstr>Why LSTM?</vt:lpstr>
      <vt:lpstr>Diagram</vt:lpstr>
      <vt:lpstr>PowerPoint Presentation</vt:lpstr>
      <vt:lpstr>Methodology of Approach</vt:lpstr>
      <vt:lpstr>PowerPoint Presentation</vt:lpstr>
      <vt:lpstr>PowerPoint Presentation</vt:lpstr>
      <vt:lpstr>Hyperparameter Table for LSTM</vt:lpstr>
      <vt:lpstr>PowerPoint Presentation</vt:lpstr>
      <vt:lpstr>Hyperparameter Tuning</vt:lpstr>
      <vt:lpstr>Metrics Used</vt:lpstr>
      <vt:lpstr>PowerPoint Presentation</vt:lpstr>
      <vt:lpstr>Performance metrics formulae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Senthil</dc:creator>
  <cp:lastModifiedBy>P K SANGAMESWAR</cp:lastModifiedBy>
  <cp:revision>6</cp:revision>
  <dcterms:modified xsi:type="dcterms:W3CDTF">2025-12-15T15:48:35Z</dcterms:modified>
</cp:coreProperties>
</file>